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8" r:id="rId2"/>
  </p:sldIdLst>
  <p:sldSz cx="49377600" cy="329184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DE172D-3B17-2EA9-13D7-617AAA56BD04}" name="Alireza Zabihi Hesari" initials="AZH" userId="4d189606a674efd7" providerId="Windows Live"/>
  <p188:author id="{DDD8C455-2214-F6D7-2C10-BC6726EFEA7E}" name="Joaquin Esreban Ramirez-Medina" initials="JERM" userId="Joaquin Esreban Ramirez-Medina" providerId="None"/>
  <p188:author id="{8A77DD67-DDB6-AD08-CC16-1426509AEB20}" name="arezoo khalili" initials="ak" userId="99744cb8e92c51fb" providerId="Windows Live"/>
  <p188:author id="{1D8073D9-4320-99DE-3B06-A4D683D89D14}" name="Pouya Rezai" initials="PR" userId="S::prezai@yorku.ca::cc1d9373-1242-4d30-a3a6-f7069b476d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uya Rezai" initials="PR" lastIdx="1" clrIdx="0">
    <p:extLst>
      <p:ext uri="{19B8F6BF-5375-455C-9EA6-DF929625EA0E}">
        <p15:presenceInfo xmlns:p15="http://schemas.microsoft.com/office/powerpoint/2012/main" userId="Pouya Rez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BE0"/>
    <a:srgbClr val="DAD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06B5B-925C-43AF-B10B-E6B6029FAD5F}" v="2" dt="2026-10-22T14:14:05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4" autoAdjust="0"/>
    <p:restoredTop sz="90839" autoAdjust="0"/>
  </p:normalViewPr>
  <p:slideViewPr>
    <p:cSldViewPr snapToGrid="0">
      <p:cViewPr>
        <p:scale>
          <a:sx n="50" d="100"/>
          <a:sy n="50" d="100"/>
        </p:scale>
        <p:origin x="-5670" y="-561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n Ramirez" userId="558411d194b8ffba" providerId="LiveId" clId="{3B6B6B02-1F8A-4430-8C9A-D9BAD02B9E82}"/>
    <pc:docChg chg="modSld">
      <pc:chgData name="Joaquin Ramirez" userId="558411d194b8ffba" providerId="LiveId" clId="{3B6B6B02-1F8A-4430-8C9A-D9BAD02B9E82}" dt="2026-10-22T14:14:05.110" v="1" actId="20577"/>
      <pc:docMkLst>
        <pc:docMk/>
      </pc:docMkLst>
      <pc:sldChg chg="modSp">
        <pc:chgData name="Joaquin Ramirez" userId="558411d194b8ffba" providerId="LiveId" clId="{3B6B6B02-1F8A-4430-8C9A-D9BAD02B9E82}" dt="2026-10-22T14:14:05.110" v="1" actId="20577"/>
        <pc:sldMkLst>
          <pc:docMk/>
          <pc:sldMk cId="947551890" sldId="258"/>
        </pc:sldMkLst>
        <pc:graphicFrameChg chg="mod">
          <ac:chgData name="Joaquin Ramirez" userId="558411d194b8ffba" providerId="LiveId" clId="{3B6B6B02-1F8A-4430-8C9A-D9BAD02B9E82}" dt="2026-10-22T14:14:05.110" v="1" actId="20577"/>
          <ac:graphicFrameMkLst>
            <pc:docMk/>
            <pc:sldMk cId="947551890" sldId="258"/>
            <ac:graphicFrameMk id="178" creationId="{D95E96DB-154D-944C-8606-C9E0C3BCBA2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jiji\Desktop\width_deflection_150um_AZ_J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yuoffice-my.sharepoint.com/personal/joaqu77_yorku_ca/Documents/pulse_rot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yuoffice-my.sharepoint.com/personal/joaqu77_yorku_ca/Documents/ACuTE/MNMPoster/Growth%20Rate_5kHz_J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452434721015126"/>
          <c:y val="6.1699974333731665E-2"/>
          <c:w val="0.74070413398734369"/>
          <c:h val="0.73226336666531311"/>
        </c:manualLayout>
      </c:layout>
      <c:scatterChart>
        <c:scatterStyle val="lineMarker"/>
        <c:varyColors val="0"/>
        <c:ser>
          <c:idx val="0"/>
          <c:order val="0"/>
          <c:tx>
            <c:v>Experimental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errBars>
            <c:errDir val="y"/>
            <c:errBarType val="both"/>
            <c:errValType val="cust"/>
            <c:noEndCap val="0"/>
            <c:plus>
              <c:numRef>
                <c:f>Sheet1!$W$2:$W$18</c:f>
                <c:numCache>
                  <c:formatCode>General</c:formatCode>
                  <c:ptCount val="17"/>
                  <c:pt idx="0">
                    <c:v>5.1384173957875909E-2</c:v>
                  </c:pt>
                  <c:pt idx="1">
                    <c:v>0.43381370809753572</c:v>
                  </c:pt>
                  <c:pt idx="2">
                    <c:v>0.20438199529313528</c:v>
                  </c:pt>
                  <c:pt idx="3">
                    <c:v>0.3539999999999992</c:v>
                  </c:pt>
                  <c:pt idx="4">
                    <c:v>0.1769999999999925</c:v>
                  </c:pt>
                  <c:pt idx="5">
                    <c:v>0.3338178145835376</c:v>
                  </c:pt>
                  <c:pt idx="6">
                    <c:v>0.44544023168097041</c:v>
                  </c:pt>
                  <c:pt idx="7">
                    <c:v>0.36845488190550579</c:v>
                  </c:pt>
                  <c:pt idx="8">
                    <c:v>0.11900140055197907</c:v>
                  </c:pt>
                  <c:pt idx="9">
                    <c:v>0.46829798205843953</c:v>
                  </c:pt>
                  <c:pt idx="10">
                    <c:v>0.15023093334374171</c:v>
                  </c:pt>
                  <c:pt idx="11">
                    <c:v>0.36845488190550579</c:v>
                  </c:pt>
                  <c:pt idx="12">
                    <c:v>0.10219099764655944</c:v>
                  </c:pt>
                  <c:pt idx="13">
                    <c:v>9.2824206612999421E-2</c:v>
                  </c:pt>
                  <c:pt idx="14">
                    <c:v>0.44568636206791812</c:v>
                  </c:pt>
                  <c:pt idx="15">
                    <c:v>0.15357517160443535</c:v>
                  </c:pt>
                  <c:pt idx="16">
                    <c:v>0.1769999999999925</c:v>
                  </c:pt>
                </c:numCache>
              </c:numRef>
            </c:plus>
            <c:minus>
              <c:numRef>
                <c:f>Sheet1!$W$2:$W$18</c:f>
                <c:numCache>
                  <c:formatCode>General</c:formatCode>
                  <c:ptCount val="17"/>
                  <c:pt idx="0">
                    <c:v>5.1384173957875909E-2</c:v>
                  </c:pt>
                  <c:pt idx="1">
                    <c:v>0.43381370809753572</c:v>
                  </c:pt>
                  <c:pt idx="2">
                    <c:v>0.20438199529313528</c:v>
                  </c:pt>
                  <c:pt idx="3">
                    <c:v>0.3539999999999992</c:v>
                  </c:pt>
                  <c:pt idx="4">
                    <c:v>0.1769999999999925</c:v>
                  </c:pt>
                  <c:pt idx="5">
                    <c:v>0.3338178145835376</c:v>
                  </c:pt>
                  <c:pt idx="6">
                    <c:v>0.44544023168097041</c:v>
                  </c:pt>
                  <c:pt idx="7">
                    <c:v>0.36845488190550579</c:v>
                  </c:pt>
                  <c:pt idx="8">
                    <c:v>0.11900140055197907</c:v>
                  </c:pt>
                  <c:pt idx="9">
                    <c:v>0.46829798205843953</c:v>
                  </c:pt>
                  <c:pt idx="10">
                    <c:v>0.15023093334374171</c:v>
                  </c:pt>
                  <c:pt idx="11">
                    <c:v>0.36845488190550579</c:v>
                  </c:pt>
                  <c:pt idx="12">
                    <c:v>0.10219099764655944</c:v>
                  </c:pt>
                  <c:pt idx="13">
                    <c:v>9.2824206612999421E-2</c:v>
                  </c:pt>
                  <c:pt idx="14">
                    <c:v>0.44568636206791812</c:v>
                  </c:pt>
                  <c:pt idx="15">
                    <c:v>0.15357517160443535</c:v>
                  </c:pt>
                  <c:pt idx="16">
                    <c:v>0.1769999999999925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Sheet1!$Q$2:$Q$18</c:f>
              <c:numCache>
                <c:formatCode>General</c:formatCode>
                <c:ptCount val="17"/>
                <c:pt idx="0">
                  <c:v>0</c:v>
                </c:pt>
                <c:pt idx="1">
                  <c:v>-5</c:v>
                </c:pt>
                <c:pt idx="2">
                  <c:v>-10</c:v>
                </c:pt>
                <c:pt idx="3">
                  <c:v>-15</c:v>
                </c:pt>
                <c:pt idx="4">
                  <c:v>-20</c:v>
                </c:pt>
                <c:pt idx="5">
                  <c:v>-25</c:v>
                </c:pt>
                <c:pt idx="6">
                  <c:v>-30</c:v>
                </c:pt>
                <c:pt idx="7">
                  <c:v>-35</c:v>
                </c:pt>
                <c:pt idx="8">
                  <c:v>-40</c:v>
                </c:pt>
                <c:pt idx="9">
                  <c:v>-45</c:v>
                </c:pt>
                <c:pt idx="10">
                  <c:v>-50</c:v>
                </c:pt>
                <c:pt idx="11">
                  <c:v>-55</c:v>
                </c:pt>
                <c:pt idx="12">
                  <c:v>-60</c:v>
                </c:pt>
                <c:pt idx="13">
                  <c:v>-65</c:v>
                </c:pt>
                <c:pt idx="14">
                  <c:v>-70</c:v>
                </c:pt>
                <c:pt idx="15">
                  <c:v>-75</c:v>
                </c:pt>
                <c:pt idx="16">
                  <c:v>-80</c:v>
                </c:pt>
              </c:numCache>
            </c:numRef>
          </c:xVal>
          <c:yVal>
            <c:numRef>
              <c:f>Sheet1!$V$2:$V$18</c:f>
              <c:numCache>
                <c:formatCode>0.00</c:formatCode>
                <c:ptCount val="17"/>
                <c:pt idx="0">
                  <c:v>150.00000333333335</c:v>
                </c:pt>
                <c:pt idx="1">
                  <c:v>151.39400333333333</c:v>
                </c:pt>
                <c:pt idx="2">
                  <c:v>153.98267000000001</c:v>
                </c:pt>
                <c:pt idx="3">
                  <c:v>156.57867000000002</c:v>
                </c:pt>
                <c:pt idx="4">
                  <c:v>159.58767</c:v>
                </c:pt>
                <c:pt idx="5">
                  <c:v>164.80033666666665</c:v>
                </c:pt>
                <c:pt idx="6">
                  <c:v>168.02567000000002</c:v>
                </c:pt>
                <c:pt idx="7">
                  <c:v>170.74566999999999</c:v>
                </c:pt>
                <c:pt idx="8">
                  <c:v>173.08500333333333</c:v>
                </c:pt>
                <c:pt idx="9">
                  <c:v>175.69567000000001</c:v>
                </c:pt>
                <c:pt idx="10">
                  <c:v>180.64800333333332</c:v>
                </c:pt>
                <c:pt idx="11">
                  <c:v>183.54266999999999</c:v>
                </c:pt>
                <c:pt idx="12">
                  <c:v>186.25667000000001</c:v>
                </c:pt>
                <c:pt idx="13">
                  <c:v>189.61633666666665</c:v>
                </c:pt>
                <c:pt idx="14">
                  <c:v>194.12533666666667</c:v>
                </c:pt>
                <c:pt idx="15">
                  <c:v>195.69733666666667</c:v>
                </c:pt>
                <c:pt idx="16">
                  <c:v>198.52966999999998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20E-48AB-A43E-4AB00476B588}"/>
            </c:ext>
          </c:extLst>
        </c:ser>
        <c:ser>
          <c:idx val="1"/>
          <c:order val="1"/>
          <c:tx>
            <c:v>Analytical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4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Sheet1!$Q$2:$Q$18</c:f>
              <c:numCache>
                <c:formatCode>General</c:formatCode>
                <c:ptCount val="17"/>
                <c:pt idx="0">
                  <c:v>0</c:v>
                </c:pt>
                <c:pt idx="1">
                  <c:v>-5</c:v>
                </c:pt>
                <c:pt idx="2">
                  <c:v>-10</c:v>
                </c:pt>
                <c:pt idx="3">
                  <c:v>-15</c:v>
                </c:pt>
                <c:pt idx="4">
                  <c:v>-20</c:v>
                </c:pt>
                <c:pt idx="5">
                  <c:v>-25</c:v>
                </c:pt>
                <c:pt idx="6">
                  <c:v>-30</c:v>
                </c:pt>
                <c:pt idx="7">
                  <c:v>-35</c:v>
                </c:pt>
                <c:pt idx="8">
                  <c:v>-40</c:v>
                </c:pt>
                <c:pt idx="9">
                  <c:v>-45</c:v>
                </c:pt>
                <c:pt idx="10">
                  <c:v>-50</c:v>
                </c:pt>
                <c:pt idx="11">
                  <c:v>-55</c:v>
                </c:pt>
                <c:pt idx="12">
                  <c:v>-60</c:v>
                </c:pt>
                <c:pt idx="13">
                  <c:v>-65</c:v>
                </c:pt>
                <c:pt idx="14">
                  <c:v>-70</c:v>
                </c:pt>
                <c:pt idx="15">
                  <c:v>-75</c:v>
                </c:pt>
                <c:pt idx="16">
                  <c:v>-80</c:v>
                </c:pt>
              </c:numCache>
            </c:numRef>
          </c:xVal>
          <c:yVal>
            <c:numRef>
              <c:f>Sheet1!$M$26:$M$42</c:f>
              <c:numCache>
                <c:formatCode>0.00</c:formatCode>
                <c:ptCount val="17"/>
                <c:pt idx="0">
                  <c:v>150</c:v>
                </c:pt>
                <c:pt idx="1">
                  <c:v>152.7479028578191</c:v>
                </c:pt>
                <c:pt idx="2">
                  <c:v>155.49580571563823</c:v>
                </c:pt>
                <c:pt idx="3">
                  <c:v>158.24370857345733</c:v>
                </c:pt>
                <c:pt idx="4">
                  <c:v>160.99161143127645</c:v>
                </c:pt>
                <c:pt idx="5">
                  <c:v>163.73951428909558</c:v>
                </c:pt>
                <c:pt idx="6">
                  <c:v>166.48741714691471</c:v>
                </c:pt>
                <c:pt idx="7">
                  <c:v>169.23532000473384</c:v>
                </c:pt>
                <c:pt idx="8">
                  <c:v>171.98322286255296</c:v>
                </c:pt>
                <c:pt idx="9">
                  <c:v>174.73112572037206</c:v>
                </c:pt>
                <c:pt idx="10">
                  <c:v>177.47902857819119</c:v>
                </c:pt>
                <c:pt idx="11">
                  <c:v>180.22693143601032</c:v>
                </c:pt>
                <c:pt idx="12">
                  <c:v>182.97483429382942</c:v>
                </c:pt>
                <c:pt idx="13">
                  <c:v>185.72273715164854</c:v>
                </c:pt>
                <c:pt idx="14">
                  <c:v>188.47064000946767</c:v>
                </c:pt>
                <c:pt idx="15">
                  <c:v>191.21854286728683</c:v>
                </c:pt>
                <c:pt idx="16">
                  <c:v>193.96644572510593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20E-48AB-A43E-4AB00476B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2153471"/>
        <c:axId val="600098975"/>
      </c:scatterChart>
      <c:valAx>
        <c:axId val="582153471"/>
        <c:scaling>
          <c:orientation val="minMax"/>
          <c:max val="0"/>
          <c:min val="-8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dirty="0">
                    <a:solidFill>
                      <a:schemeClr val="tx1"/>
                    </a:solidFill>
                  </a:rPr>
                  <a:t>Vacuum Pressure (kPa)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0098975"/>
        <c:crosses val="autoZero"/>
        <c:crossBetween val="midCat"/>
        <c:majorUnit val="20"/>
      </c:valAx>
      <c:valAx>
        <c:axId val="600098975"/>
        <c:scaling>
          <c:orientation val="minMax"/>
          <c:min val="15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400" b="1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dirty="0">
                    <a:solidFill>
                      <a:schemeClr val="tx1"/>
                    </a:solidFill>
                  </a:rPr>
                  <a:t>Channel Width (</a:t>
                </a:r>
                <a:r>
                  <a:rPr lang="en-US" sz="2400" b="1" baseline="0" dirty="0">
                    <a:solidFill>
                      <a:srgbClr val="000000"/>
                    </a:solidFill>
                    <a:effectLst/>
                  </a:rPr>
                  <a:t>µm</a:t>
                </a:r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153471"/>
        <c:crossesAt val="-80"/>
        <c:crossBetween val="midCat"/>
        <c:majorUnit val="20"/>
      </c:valAx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58942054698615087"/>
          <c:y val="6.4675581424277873E-2"/>
          <c:w val="0.34919659505594924"/>
          <c:h val="0.332156650372067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80201798894413"/>
          <c:y val="6.5231481481481501E-2"/>
          <c:w val="0.79664227759622708"/>
          <c:h val="0.68833794971145501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dk1">
                    <a:tint val="885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errBars>
            <c:errDir val="y"/>
            <c:errBarType val="both"/>
            <c:errValType val="cust"/>
            <c:noEndCap val="0"/>
            <c:plus>
              <c:numRef>
                <c:f>(Sheet1!$I$44,Sheet1!$I$36,Sheet1!$I$28,Sheet1!$I$21,Sheet1!$I$14,Sheet1!$I$7,Sheet1!$D$49,Sheet1!$D$42,Sheet1!$D$35,Sheet1!$D$28,Sheet1!$D$21,Sheet1!$D$14,Sheet1!$D$7)</c:f>
                <c:numCache>
                  <c:formatCode>General</c:formatCode>
                  <c:ptCount val="13"/>
                  <c:pt idx="0">
                    <c:v>6.2370062370062485E-2</c:v>
                  </c:pt>
                  <c:pt idx="1">
                    <c:v>0.3636970216945864</c:v>
                  </c:pt>
                  <c:pt idx="2">
                    <c:v>0.26786246516210027</c:v>
                  </c:pt>
                  <c:pt idx="3">
                    <c:v>0.5547237496967965</c:v>
                  </c:pt>
                  <c:pt idx="4">
                    <c:v>0.55443868021250953</c:v>
                  </c:pt>
                  <c:pt idx="5">
                    <c:v>0.49081924723839221</c:v>
                  </c:pt>
                  <c:pt idx="6">
                    <c:v>1.0633385948845737</c:v>
                  </c:pt>
                  <c:pt idx="7">
                    <c:v>1.0751743134912646</c:v>
                  </c:pt>
                  <c:pt idx="8">
                    <c:v>2.5563138510411947</c:v>
                  </c:pt>
                  <c:pt idx="9">
                    <c:v>3.6005226763740588</c:v>
                  </c:pt>
                  <c:pt idx="10">
                    <c:v>1.8186919506987738</c:v>
                  </c:pt>
                  <c:pt idx="11">
                    <c:v>3.4605028702040572</c:v>
                  </c:pt>
                  <c:pt idx="12">
                    <c:v>4.0777967725888944</c:v>
                  </c:pt>
                </c:numCache>
              </c:numRef>
            </c:plus>
            <c:minus>
              <c:numRef>
                <c:f>(Sheet1!$I$44,Sheet1!$I$36,Sheet1!$I$28,Sheet1!$I$21,Sheet1!$I$14,Sheet1!$I$7,Sheet1!$D$49,Sheet1!$D$42,Sheet1!$D$35,Sheet1!$D$28,Sheet1!$D$21,Sheet1!$D$14,Sheet1!$D$7)</c:f>
                <c:numCache>
                  <c:formatCode>General</c:formatCode>
                  <c:ptCount val="13"/>
                  <c:pt idx="0">
                    <c:v>6.2370062370062485E-2</c:v>
                  </c:pt>
                  <c:pt idx="1">
                    <c:v>0.3636970216945864</c:v>
                  </c:pt>
                  <c:pt idx="2">
                    <c:v>0.26786246516210027</c:v>
                  </c:pt>
                  <c:pt idx="3">
                    <c:v>0.5547237496967965</c:v>
                  </c:pt>
                  <c:pt idx="4">
                    <c:v>0.55443868021250953</c:v>
                  </c:pt>
                  <c:pt idx="5">
                    <c:v>0.49081924723839221</c:v>
                  </c:pt>
                  <c:pt idx="6">
                    <c:v>1.0633385948845737</c:v>
                  </c:pt>
                  <c:pt idx="7">
                    <c:v>1.0751743134912646</c:v>
                  </c:pt>
                  <c:pt idx="8">
                    <c:v>2.5563138510411947</c:v>
                  </c:pt>
                  <c:pt idx="9">
                    <c:v>3.6005226763740588</c:v>
                  </c:pt>
                  <c:pt idx="10">
                    <c:v>1.8186919506987738</c:v>
                  </c:pt>
                  <c:pt idx="11">
                    <c:v>3.4605028702040572</c:v>
                  </c:pt>
                  <c:pt idx="12">
                    <c:v>4.0777967725888944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/>
                </a:solidFill>
                <a:round/>
              </a:ln>
              <a:effectLst/>
            </c:spPr>
          </c:errBars>
          <c:xVal>
            <c:numRef>
              <c:f>(Sheet1!$G$43,Sheet1!$G$35,Sheet1!$G$27,Sheet1!$G$20,Sheet1!$G$13,Sheet1!$G$6,Sheet1!$B$48,Sheet1!$B$41,Sheet1!$B$34,Sheet1!$B$27,Sheet1!$B$20,Sheet1!$B$13,Sheet1!$B$6)</c:f>
              <c:numCache>
                <c:formatCode>General</c:formatCode>
                <c:ptCount val="13"/>
                <c:pt idx="0">
                  <c:v>20</c:v>
                </c:pt>
                <c:pt idx="1">
                  <c:v>40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  <c:pt idx="5">
                  <c:v>160</c:v>
                </c:pt>
                <c:pt idx="6">
                  <c:v>200</c:v>
                </c:pt>
                <c:pt idx="7">
                  <c:v>250</c:v>
                </c:pt>
                <c:pt idx="8">
                  <c:v>300</c:v>
                </c:pt>
                <c:pt idx="9">
                  <c:v>350</c:v>
                </c:pt>
                <c:pt idx="10">
                  <c:v>400</c:v>
                </c:pt>
                <c:pt idx="11">
                  <c:v>450</c:v>
                </c:pt>
                <c:pt idx="12">
                  <c:v>500</c:v>
                </c:pt>
              </c:numCache>
            </c:numRef>
          </c:xVal>
          <c:yVal>
            <c:numRef>
              <c:f>(Sheet1!$I$43,Sheet1!$I$35,Sheet1!$I$27,Sheet1!$I$20,Sheet1!$I$13,Sheet1!$I$6,Sheet1!$D$48,Sheet1!$D$41,Sheet1!$D$34,Sheet1!$D$27,Sheet1!$D$20,Sheet1!$D$13,Sheet1!$D$6)</c:f>
              <c:numCache>
                <c:formatCode>0.0</c:formatCode>
                <c:ptCount val="13"/>
                <c:pt idx="0">
                  <c:v>2.3388773388773387</c:v>
                </c:pt>
                <c:pt idx="1">
                  <c:v>3.611569747041373</c:v>
                </c:pt>
                <c:pt idx="2">
                  <c:v>4.8111410282462916</c:v>
                </c:pt>
                <c:pt idx="3">
                  <c:v>7.0557044653941823</c:v>
                </c:pt>
                <c:pt idx="5">
                  <c:v>14.972876502379608</c:v>
                </c:pt>
                <c:pt idx="6">
                  <c:v>21.373663101604276</c:v>
                </c:pt>
                <c:pt idx="7">
                  <c:v>27.591608391608393</c:v>
                </c:pt>
                <c:pt idx="8">
                  <c:v>34.837320574162675</c:v>
                </c:pt>
                <c:pt idx="9">
                  <c:v>39.954453441295541</c:v>
                </c:pt>
                <c:pt idx="10">
                  <c:v>43.694805194805191</c:v>
                </c:pt>
                <c:pt idx="11">
                  <c:v>47.016233766233768</c:v>
                </c:pt>
                <c:pt idx="12">
                  <c:v>54.560439560439562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880-4613-9CAE-081F278FF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5246111"/>
        <c:axId val="1495243199"/>
      </c:scatterChart>
      <c:valAx>
        <c:axId val="1495246111"/>
        <c:scaling>
          <c:orientation val="minMax"/>
          <c:max val="55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2400" b="1">
                    <a:solidFill>
                      <a:schemeClr val="tx1"/>
                    </a:solidFill>
                  </a:rPr>
                  <a:t>pulse width</a:t>
                </a:r>
                <a:r>
                  <a:rPr lang="en-CA" sz="2400" b="1" baseline="0">
                    <a:solidFill>
                      <a:schemeClr val="tx1"/>
                    </a:solidFill>
                  </a:rPr>
                  <a:t>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5243199"/>
        <c:crosses val="autoZero"/>
        <c:crossBetween val="midCat"/>
        <c:majorUnit val="100"/>
        <c:minorUnit val="5"/>
      </c:valAx>
      <c:valAx>
        <c:axId val="1495243199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2400" b="1" dirty="0">
                    <a:solidFill>
                      <a:schemeClr val="tx1"/>
                    </a:solidFill>
                  </a:rPr>
                  <a:t>Rotation</a:t>
                </a:r>
                <a:r>
                  <a:rPr lang="en-CA" sz="2400" b="1" baseline="0" dirty="0">
                    <a:solidFill>
                      <a:schemeClr val="tx1"/>
                    </a:solidFill>
                  </a:rPr>
                  <a:t> per pulse (degree)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5246111"/>
        <c:crosses val="autoZero"/>
        <c:crossBetween val="midCat"/>
        <c:majorUnit val="1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16470261521651"/>
          <c:y val="5.0316411726812262E-2"/>
          <c:w val="0.85470591844404054"/>
          <c:h val="0.77083291981168678"/>
        </c:manualLayout>
      </c:layout>
      <c:scatterChart>
        <c:scatterStyle val="smoothMarker"/>
        <c:varyColors val="0"/>
        <c:ser>
          <c:idx val="0"/>
          <c:order val="0"/>
          <c:tx>
            <c:v>5 kHz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Sheet1!$C$9:$C$23</c:f>
                <c:numCache>
                  <c:formatCode>General</c:formatCode>
                  <c:ptCount val="15"/>
                  <c:pt idx="0">
                    <c:v>12.938703421306807</c:v>
                  </c:pt>
                  <c:pt idx="1">
                    <c:v>11.588464293549432</c:v>
                  </c:pt>
                  <c:pt idx="2">
                    <c:v>7.4543851865367916</c:v>
                  </c:pt>
                  <c:pt idx="3">
                    <c:v>11.136351896284124</c:v>
                  </c:pt>
                  <c:pt idx="4">
                    <c:v>16.227185662578037</c:v>
                  </c:pt>
                  <c:pt idx="5">
                    <c:v>4.1385000000000218</c:v>
                  </c:pt>
                  <c:pt idx="6">
                    <c:v>1.9105963783157809</c:v>
                  </c:pt>
                  <c:pt idx="7">
                    <c:v>11.924992097306966</c:v>
                  </c:pt>
                  <c:pt idx="8">
                    <c:v>15.50765776343645</c:v>
                  </c:pt>
                  <c:pt idx="9">
                    <c:v>16.023542343640038</c:v>
                  </c:pt>
                  <c:pt idx="10">
                    <c:v>10.45130413657035</c:v>
                  </c:pt>
                  <c:pt idx="11">
                    <c:v>6.5692746139664191</c:v>
                  </c:pt>
                  <c:pt idx="12">
                    <c:v>8.3566688717421904</c:v>
                  </c:pt>
                  <c:pt idx="13">
                    <c:v>3.3448753530310795</c:v>
                  </c:pt>
                  <c:pt idx="14">
                    <c:v>15.963188707480986</c:v>
                  </c:pt>
                </c:numCache>
              </c:numRef>
            </c:plus>
            <c:minus>
              <c:numRef>
                <c:f>Sheet1!$C$9:$C$23</c:f>
                <c:numCache>
                  <c:formatCode>General</c:formatCode>
                  <c:ptCount val="15"/>
                  <c:pt idx="0">
                    <c:v>12.938703421306807</c:v>
                  </c:pt>
                  <c:pt idx="1">
                    <c:v>11.588464293549432</c:v>
                  </c:pt>
                  <c:pt idx="2">
                    <c:v>7.4543851865367916</c:v>
                  </c:pt>
                  <c:pt idx="3">
                    <c:v>11.136351896284124</c:v>
                  </c:pt>
                  <c:pt idx="4">
                    <c:v>16.227185662578037</c:v>
                  </c:pt>
                  <c:pt idx="5">
                    <c:v>4.1385000000000218</c:v>
                  </c:pt>
                  <c:pt idx="6">
                    <c:v>1.9105963783157809</c:v>
                  </c:pt>
                  <c:pt idx="7">
                    <c:v>11.924992097306966</c:v>
                  </c:pt>
                  <c:pt idx="8">
                    <c:v>15.50765776343645</c:v>
                  </c:pt>
                  <c:pt idx="9">
                    <c:v>16.023542343640038</c:v>
                  </c:pt>
                  <c:pt idx="10">
                    <c:v>10.45130413657035</c:v>
                  </c:pt>
                  <c:pt idx="11">
                    <c:v>6.5692746139664191</c:v>
                  </c:pt>
                  <c:pt idx="12">
                    <c:v>8.3566688717421904</c:v>
                  </c:pt>
                  <c:pt idx="13">
                    <c:v>3.3448753530310795</c:v>
                  </c:pt>
                  <c:pt idx="14">
                    <c:v>15.963188707480986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Sheet1!$A$9:$A$23</c:f>
              <c:numCache>
                <c:formatCode>General</c:formatCode>
                <c:ptCount val="15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</c:numCache>
            </c:numRef>
          </c:xVal>
          <c:yVal>
            <c:numRef>
              <c:f>Sheet1!$B$9:$B$23</c:f>
              <c:numCache>
                <c:formatCode>0</c:formatCode>
                <c:ptCount val="15"/>
                <c:pt idx="0">
                  <c:v>437.57619444444441</c:v>
                </c:pt>
                <c:pt idx="1">
                  <c:v>419.64269444444443</c:v>
                </c:pt>
                <c:pt idx="2">
                  <c:v>407.88852777777782</c:v>
                </c:pt>
                <c:pt idx="3">
                  <c:v>402.26030555555553</c:v>
                </c:pt>
                <c:pt idx="4">
                  <c:v>389.56925000000001</c:v>
                </c:pt>
                <c:pt idx="5">
                  <c:v>380.73941666666661</c:v>
                </c:pt>
                <c:pt idx="6">
                  <c:v>363.63516666666675</c:v>
                </c:pt>
                <c:pt idx="7">
                  <c:v>357.22074999999995</c:v>
                </c:pt>
                <c:pt idx="8">
                  <c:v>344.32130555555551</c:v>
                </c:pt>
                <c:pt idx="9">
                  <c:v>335.50180555555556</c:v>
                </c:pt>
                <c:pt idx="10">
                  <c:v>330.55127777777778</c:v>
                </c:pt>
                <c:pt idx="11">
                  <c:v>332.73419444444448</c:v>
                </c:pt>
                <c:pt idx="12">
                  <c:v>327.23858333333334</c:v>
                </c:pt>
                <c:pt idx="13">
                  <c:v>325.00830555555558</c:v>
                </c:pt>
                <c:pt idx="14">
                  <c:v>308.73072222222225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409-4BDA-9C3E-2A022110E9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4853744"/>
        <c:axId val="1614841440"/>
      </c:scatterChart>
      <c:valAx>
        <c:axId val="1614853744"/>
        <c:scaling>
          <c:orientation val="minMax"/>
          <c:max val="7.2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b="1">
                    <a:solidFill>
                      <a:schemeClr val="tx1"/>
                    </a:solidFill>
                  </a:rPr>
                  <a:t>Upstream</a:t>
                </a:r>
                <a:r>
                  <a:rPr lang="en-US" sz="2400" b="1" baseline="0">
                    <a:solidFill>
                      <a:schemeClr val="tx1"/>
                    </a:solidFill>
                  </a:rPr>
                  <a:t> Pressure (kPA)</a:t>
                </a:r>
                <a:endParaRPr lang="en-US" sz="2400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444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4841440"/>
        <c:crosses val="autoZero"/>
        <c:crossBetween val="midCat"/>
        <c:majorUnit val="1"/>
      </c:valAx>
      <c:valAx>
        <c:axId val="16148414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b="1">
                    <a:solidFill>
                      <a:schemeClr val="tx1"/>
                    </a:solidFill>
                  </a:rPr>
                  <a:t>Growth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Rate (µm</a:t>
                </a:r>
                <a:r>
                  <a:rPr lang="en-US" sz="2400" b="1" baseline="30000" dirty="0">
                    <a:solidFill>
                      <a:schemeClr val="tx1"/>
                    </a:solidFill>
                  </a:rPr>
                  <a:t>3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 w="44450" cap="flat" cmpd="sng" algn="ctr">
            <a:solidFill>
              <a:schemeClr val="tx1">
                <a:alpha val="97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4853744"/>
        <c:crosses val="autoZero"/>
        <c:crossBetween val="midCat"/>
        <c:majorUnit val="7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8FCE8-14D7-4419-970F-B7CE43881F76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1E0FC-C3C5-4878-A1EC-4E7F2F626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322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E0FC-C3C5-4878-A1EC-4E7F2F626AD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76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5387342"/>
            <a:ext cx="4197096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983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79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8206749"/>
            <a:ext cx="4258818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2029429"/>
            <a:ext cx="4258818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64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721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1752607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8069582"/>
            <a:ext cx="2088903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2024360"/>
            <a:ext cx="2088903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8069582"/>
            <a:ext cx="2099191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162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855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4739647"/>
            <a:ext cx="2499741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15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4739647"/>
            <a:ext cx="2499741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88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23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696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1752607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67BB9-841F-4DC5-A714-279B72875161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0510487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1DB3A-A73A-47F5-BAAC-69DB116C16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982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2.jpeg"/><Relationship Id="rId26" Type="http://schemas.openxmlformats.org/officeDocument/2006/relationships/image" Target="../media/image18.png"/><Relationship Id="rId3" Type="http://schemas.openxmlformats.org/officeDocument/2006/relationships/image" Target="../media/image1.png"/><Relationship Id="rId21" Type="http://schemas.microsoft.com/office/2007/relationships/hdphoto" Target="../media/hdphoto1.wdp"/><Relationship Id="rId34" Type="http://schemas.openxmlformats.org/officeDocument/2006/relationships/image" Target="../media/image25.png"/><Relationship Id="rId7" Type="http://schemas.openxmlformats.org/officeDocument/2006/relationships/image" Target="../media/image4.png"/><Relationship Id="rId12" Type="http://schemas.openxmlformats.org/officeDocument/2006/relationships/chart" Target="../charts/chart2.xml"/><Relationship Id="rId17" Type="http://schemas.openxmlformats.org/officeDocument/2006/relationships/image" Target="../media/image11.png"/><Relationship Id="rId25" Type="http://schemas.openxmlformats.org/officeDocument/2006/relationships/image" Target="../media/image17.png"/><Relationship Id="rId3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hart" Target="../charts/chart1.xml"/><Relationship Id="rId24" Type="http://schemas.openxmlformats.org/officeDocument/2006/relationships/image" Target="../media/image16.png"/><Relationship Id="rId32" Type="http://schemas.openxmlformats.org/officeDocument/2006/relationships/chart" Target="../charts/chart3.xml"/><Relationship Id="rId37" Type="http://schemas.openxmlformats.org/officeDocument/2006/relationships/image" Target="../media/image27.emf"/><Relationship Id="rId5" Type="http://schemas.openxmlformats.org/officeDocument/2006/relationships/hyperlink" Target="mailto:prezai@yorku.ca" TargetMode="External"/><Relationship Id="rId15" Type="http://schemas.openxmlformats.org/officeDocument/2006/relationships/image" Target="../media/image9.png"/><Relationship Id="rId23" Type="http://schemas.microsoft.com/office/2007/relationships/hdphoto" Target="../media/hdphoto2.wdp"/><Relationship Id="rId28" Type="http://schemas.openxmlformats.org/officeDocument/2006/relationships/image" Target="../media/image20.png"/><Relationship Id="rId36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19" Type="http://schemas.openxmlformats.org/officeDocument/2006/relationships/image" Target="../media/image13.png"/><Relationship Id="rId31" Type="http://schemas.openxmlformats.org/officeDocument/2006/relationships/image" Target="../media/image23.png"/><Relationship Id="rId4" Type="http://schemas.openxmlformats.org/officeDocument/2006/relationships/image" Target="../media/image2.png"/><Relationship Id="rId14" Type="http://schemas.openxmlformats.org/officeDocument/2006/relationships/image" Target="../media/image8.png"/><Relationship Id="rId22" Type="http://schemas.openxmlformats.org/officeDocument/2006/relationships/image" Target="../media/image15.png"/><Relationship Id="rId27" Type="http://schemas.openxmlformats.org/officeDocument/2006/relationships/image" Target="../media/image19.png"/><Relationship Id="rId30" Type="http://schemas.openxmlformats.org/officeDocument/2006/relationships/image" Target="../media/image22.png"/><Relationship Id="rId35" Type="http://schemas.openxmlformats.org/officeDocument/2006/relationships/image" Target="../media/image26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002060">
                <a:alpha val="10000"/>
              </a:srgbClr>
            </a:gs>
            <a:gs pos="25000">
              <a:schemeClr val="accent4">
                <a:lumMod val="50000"/>
                <a:alpha val="10000"/>
              </a:schemeClr>
            </a:gs>
            <a:gs pos="0">
              <a:schemeClr val="accent2">
                <a:lumMod val="75000"/>
                <a:alpha val="10000"/>
              </a:schemeClr>
            </a:gs>
            <a:gs pos="100000">
              <a:srgbClr val="FFFF00">
                <a:alpha val="10000"/>
              </a:srgbClr>
            </a:gs>
            <a:gs pos="75000">
              <a:srgbClr val="00B050">
                <a:alpha val="1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ounded Rectangle 81"/>
          <p:cNvSpPr/>
          <p:nvPr/>
        </p:nvSpPr>
        <p:spPr>
          <a:xfrm flipH="1">
            <a:off x="256009" y="13422771"/>
            <a:ext cx="20244335" cy="18882741"/>
          </a:xfrm>
          <a:prstGeom prst="roundRect">
            <a:avLst>
              <a:gd name="adj" fmla="val 5734"/>
            </a:avLst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799" dirty="0"/>
              <a:t>``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F84103E9-7A56-D9E4-BFE0-9CCC73173B98}"/>
              </a:ext>
            </a:extLst>
          </p:cNvPr>
          <p:cNvSpPr txBox="1"/>
          <p:nvPr/>
        </p:nvSpPr>
        <p:spPr>
          <a:xfrm>
            <a:off x="543795" y="14294413"/>
            <a:ext cx="19556509" cy="23070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04000" indent="-3600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598" dirty="0">
                <a:cs typeface="+mn-lt"/>
              </a:rPr>
              <a:t>The microfluidic chip (Fig. 3A) consisted of 3 modules, a pneumatic embryo trapping and releasing module with deflectable PDMS walls (Fig. 3B), a straight microchannel (30mm-long, 280µm-wide, 330µm-thick) with sidewall microcavities (90 µm-wide) to trap microbubbles (Fig. 3C), and a piezoelectric transducer that generated acoustic waves (Fig. 3A).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0713494" y="5439473"/>
            <a:ext cx="28408095" cy="26880377"/>
          </a:xfrm>
          <a:prstGeom prst="roundRect">
            <a:avLst>
              <a:gd name="adj" fmla="val 3904"/>
            </a:avLst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336"/>
              </a:spcBef>
            </a:pPr>
            <a:endParaRPr lang="en-US" altLang="en-US" sz="3001" i="1" dirty="0">
              <a:solidFill>
                <a:schemeClr val="tx1"/>
              </a:solidFill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252833" y="5427602"/>
            <a:ext cx="20206272" cy="7784267"/>
          </a:xfrm>
          <a:prstGeom prst="roundRect">
            <a:avLst>
              <a:gd name="adj" fmla="val 7690"/>
            </a:avLst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799" dirty="0"/>
          </a:p>
        </p:txBody>
      </p:sp>
      <p:sp>
        <p:nvSpPr>
          <p:cNvPr id="104" name="Rectangle 103"/>
          <p:cNvSpPr/>
          <p:nvPr/>
        </p:nvSpPr>
        <p:spPr>
          <a:xfrm>
            <a:off x="21130771" y="17743202"/>
            <a:ext cx="11745013" cy="4675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000" indent="-3600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598" dirty="0">
                <a:solidFill>
                  <a:prstClr val="black"/>
                </a:solidFill>
              </a:rPr>
              <a:t>When the piezoelectric transducer is on, bubble growth occurs due to rectified diffusion. </a:t>
            </a:r>
          </a:p>
          <a:p>
            <a:pPr marL="504000" indent="-3600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598" dirty="0">
                <a:solidFill>
                  <a:prstClr val="black"/>
                </a:solidFill>
              </a:rPr>
              <a:t>Increasing the upstream pressure reduces the growth rate of the microbubbles. </a:t>
            </a:r>
          </a:p>
          <a:p>
            <a:pPr marL="504000" indent="-3600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598" dirty="0">
                <a:solidFill>
                  <a:prstClr val="black"/>
                </a:solidFill>
              </a:rPr>
              <a:t>Within the range of 4.5 kPa to 5.5 kPa a constant bubble growth was recorded. At this range, the microbubble size was stable enough for embryo rotation. Therefore, all embryos were rotated at 4.5 kPa.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6C82821-8287-46BF-A078-85E27F6354CF}"/>
              </a:ext>
            </a:extLst>
          </p:cNvPr>
          <p:cNvSpPr txBox="1"/>
          <p:nvPr/>
        </p:nvSpPr>
        <p:spPr>
          <a:xfrm>
            <a:off x="3928783" y="13368508"/>
            <a:ext cx="12968381" cy="92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A02C2F"/>
                </a:solidFill>
              </a:defRPr>
            </a:lvl1pPr>
          </a:lstStyle>
          <a:p>
            <a:r>
              <a:rPr lang="en-US" sz="5407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THEORY AND EXPERIMENTAL METHODS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1E2770B-E0A1-4AD6-8DFB-448747AF2587}"/>
              </a:ext>
            </a:extLst>
          </p:cNvPr>
          <p:cNvSpPr txBox="1"/>
          <p:nvPr/>
        </p:nvSpPr>
        <p:spPr>
          <a:xfrm>
            <a:off x="31799446" y="29588774"/>
            <a:ext cx="4493225" cy="92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A02C2F"/>
                </a:solidFill>
              </a:defRPr>
            </a:lvl1pPr>
          </a:lstStyle>
          <a:p>
            <a:r>
              <a:rPr lang="en-US" sz="5407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r>
              <a:rPr lang="en-US" sz="3034" u="sng" dirty="0"/>
              <a:t>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ACEC75E-7824-489E-B9DE-53A2A4BD47E2}"/>
              </a:ext>
            </a:extLst>
          </p:cNvPr>
          <p:cNvSpPr/>
          <p:nvPr/>
        </p:nvSpPr>
        <p:spPr>
          <a:xfrm>
            <a:off x="21251261" y="7088426"/>
            <a:ext cx="11966471" cy="8316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598" dirty="0"/>
              <a:t>The deflection of the membrane increased linearly by increasing the negative pressure through air channels (Fig. 7)</a:t>
            </a:r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3598" dirty="0"/>
          </a:p>
          <a:p>
            <a:pPr marL="144000" algn="just">
              <a:spcAft>
                <a:spcPts val="800"/>
              </a:spcAft>
            </a:pPr>
            <a:endParaRPr lang="en-US" sz="3598" dirty="0"/>
          </a:p>
          <a:p>
            <a:pPr marL="504000" indent="-3600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598" dirty="0"/>
              <a:t>A vacuum pressures of -60 kPa was sufficient to open microchannel wide enough for passage of embryos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349F8FC-7C0A-420A-AE79-4B26D483D9F4}"/>
              </a:ext>
            </a:extLst>
          </p:cNvPr>
          <p:cNvSpPr txBox="1"/>
          <p:nvPr/>
        </p:nvSpPr>
        <p:spPr>
          <a:xfrm>
            <a:off x="31799447" y="27490559"/>
            <a:ext cx="4493225" cy="92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A02C2F"/>
                </a:solidFill>
              </a:defRPr>
            </a:lvl1pPr>
          </a:lstStyle>
          <a:p>
            <a:r>
              <a:rPr lang="en-US" sz="5407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118" name="Rectangle 2"/>
          <p:cNvSpPr>
            <a:spLocks noChangeArrowheads="1"/>
          </p:cNvSpPr>
          <p:nvPr/>
        </p:nvSpPr>
        <p:spPr bwMode="auto">
          <a:xfrm>
            <a:off x="3682099" y="8708392"/>
            <a:ext cx="103923" cy="770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27" tIns="25714" rIns="51427" bIns="2571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 sz="4671"/>
          </a:p>
        </p:txBody>
      </p:sp>
      <p:sp>
        <p:nvSpPr>
          <p:cNvPr id="124" name="TextBox 123"/>
          <p:cNvSpPr txBox="1"/>
          <p:nvPr/>
        </p:nvSpPr>
        <p:spPr>
          <a:xfrm>
            <a:off x="21632019" y="28369652"/>
            <a:ext cx="27115332" cy="119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Tx/>
              <a:buChar char="-"/>
            </a:pPr>
            <a:r>
              <a:rPr lang="en-US" sz="3598" dirty="0"/>
              <a:t>A microfluidic device was designed and fabricated for </a:t>
            </a:r>
            <a:r>
              <a:rPr lang="en-US" sz="3598" dirty="0" err="1"/>
              <a:t>acoustofluidic</a:t>
            </a:r>
            <a:r>
              <a:rPr lang="en-US" sz="3598" dirty="0"/>
              <a:t> rotational manipulation of Drosophila embryos.</a:t>
            </a:r>
          </a:p>
          <a:p>
            <a:pPr marL="571500" indent="-571500" algn="just">
              <a:buFontTx/>
              <a:buChar char="-"/>
            </a:pPr>
            <a:r>
              <a:rPr lang="en-US" sz="3598" dirty="0"/>
              <a:t>The device provided embryo trapping, single embryo release, and step-wise rotation of embryos with </a:t>
            </a:r>
            <a:r>
              <a:rPr lang="en-CA" sz="3600" dirty="0">
                <a:latin typeface="Calibri"/>
                <a:ea typeface="+mn-lt"/>
                <a:cs typeface="+mn-lt"/>
              </a:rPr>
              <a:t>2.3­° resolution per pulse. </a:t>
            </a:r>
            <a:r>
              <a:rPr lang="en-US" sz="3598" dirty="0"/>
              <a:t> </a:t>
            </a:r>
            <a:endParaRPr lang="en-CA" sz="3598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050E678-DE94-43ED-8BFA-7944D957D2EB}"/>
              </a:ext>
            </a:extLst>
          </p:cNvPr>
          <p:cNvSpPr txBox="1"/>
          <p:nvPr/>
        </p:nvSpPr>
        <p:spPr>
          <a:xfrm>
            <a:off x="31384654" y="5365385"/>
            <a:ext cx="4994054" cy="92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7" b="1" u="sng" dirty="0">
                <a:solidFill>
                  <a:srgbClr val="A02C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3CA3847-63C8-4B15-9205-3C3FEEF8D16C}"/>
              </a:ext>
            </a:extLst>
          </p:cNvPr>
          <p:cNvSpPr/>
          <p:nvPr/>
        </p:nvSpPr>
        <p:spPr>
          <a:xfrm>
            <a:off x="21231870" y="6304092"/>
            <a:ext cx="11267339" cy="7092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1" rtl="0"/>
            <a:r>
              <a:rPr lang="en-US" sz="4009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negative pressure on membrane deflection </a:t>
            </a:r>
            <a:endParaRPr lang="en-CA" sz="4009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3CA3847-63C8-4B15-9205-3C3FEEF8D16C}"/>
              </a:ext>
            </a:extLst>
          </p:cNvPr>
          <p:cNvSpPr/>
          <p:nvPr/>
        </p:nvSpPr>
        <p:spPr>
          <a:xfrm>
            <a:off x="21238216" y="16353215"/>
            <a:ext cx="11260993" cy="1326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1">
              <a:spcBef>
                <a:spcPts val="672"/>
              </a:spcBef>
            </a:pPr>
            <a:r>
              <a:rPr lang="en-CA" altLang="en-US" sz="4009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upstream pressure on growth rate of acoustically excited microbubbles </a:t>
            </a:r>
            <a:endParaRPr lang="en-GB" sz="4009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594782" y="30457159"/>
            <a:ext cx="21060947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3600" dirty="0">
                <a:ea typeface="+mn-lt"/>
                <a:cs typeface="+mn-lt"/>
              </a:rPr>
              <a:t>[1] A. </a:t>
            </a:r>
            <a:r>
              <a:rPr lang="en-US" sz="3600" dirty="0" err="1">
                <a:ea typeface="+mn-lt"/>
                <a:cs typeface="+mn-lt"/>
              </a:rPr>
              <a:t>Zabihihesari</a:t>
            </a:r>
            <a:r>
              <a:rPr lang="en-US" sz="3600" dirty="0">
                <a:ea typeface="+mn-lt"/>
                <a:cs typeface="+mn-lt"/>
              </a:rPr>
              <a:t>, A. J. Hilliker, and P. Rezai, </a:t>
            </a:r>
            <a:r>
              <a:rPr lang="en-US" sz="3600" i="1" dirty="0" err="1">
                <a:ea typeface="+mn-lt"/>
                <a:cs typeface="+mn-lt"/>
              </a:rPr>
              <a:t>Integr</a:t>
            </a:r>
            <a:r>
              <a:rPr lang="en-US" sz="3600" i="1" dirty="0">
                <a:ea typeface="+mn-lt"/>
                <a:cs typeface="+mn-lt"/>
              </a:rPr>
              <a:t>. Biol.</a:t>
            </a:r>
            <a:r>
              <a:rPr lang="en-US" sz="3600" dirty="0">
                <a:ea typeface="+mn-lt"/>
                <a:cs typeface="+mn-lt"/>
              </a:rPr>
              <a:t>, vol. 11, no. 12, pp. 425–443, 2020. </a:t>
            </a:r>
            <a:endParaRPr lang="fr-FR" sz="3600" dirty="0"/>
          </a:p>
          <a:p>
            <a:pPr marL="270510" indent="-270510" algn="just"/>
            <a:r>
              <a:rPr lang="en-US" sz="3600" dirty="0">
                <a:ea typeface="+mn-lt"/>
                <a:cs typeface="+mn-lt"/>
              </a:rPr>
              <a:t>[2] K. Chung, Y. Kim, J. S. Kanodia, E. Gong, S. Y. Shvartsman, and H. Lu, </a:t>
            </a:r>
            <a:r>
              <a:rPr lang="en-US" sz="3600" i="1" dirty="0">
                <a:ea typeface="+mn-lt"/>
                <a:cs typeface="+mn-lt"/>
              </a:rPr>
              <a:t>Artic. Nat. methods</a:t>
            </a:r>
            <a:r>
              <a:rPr lang="en-US" sz="3600" dirty="0">
                <a:ea typeface="+mn-lt"/>
                <a:cs typeface="+mn-lt"/>
              </a:rPr>
              <a:t>, vol. 8, no. 2, 2011.</a:t>
            </a:r>
            <a:endParaRPr lang="fr-FR" sz="3600" dirty="0">
              <a:ea typeface="+mn-lt"/>
              <a:cs typeface="+mn-lt"/>
            </a:endParaRPr>
          </a:p>
          <a:p>
            <a:pPr marL="270510" indent="-270510" algn="just"/>
            <a:r>
              <a:rPr lang="fr-FR" sz="3600" dirty="0">
                <a:ea typeface="+mn-lt"/>
                <a:cs typeface="+mn-lt"/>
              </a:rPr>
              <a:t>[3] A. Z. </a:t>
            </a:r>
            <a:r>
              <a:rPr lang="fr-FR" sz="3600" dirty="0" err="1">
                <a:ea typeface="+mn-lt"/>
                <a:cs typeface="+mn-lt"/>
              </a:rPr>
              <a:t>Shorr</a:t>
            </a:r>
            <a:r>
              <a:rPr lang="fr-FR" sz="3600" dirty="0">
                <a:ea typeface="+mn-lt"/>
                <a:cs typeface="+mn-lt"/>
              </a:rPr>
              <a:t>, U. M. </a:t>
            </a:r>
            <a:r>
              <a:rPr lang="fr-FR" sz="3600" dirty="0" err="1">
                <a:ea typeface="+mn-lt"/>
                <a:cs typeface="+mn-lt"/>
              </a:rPr>
              <a:t>Sönmez</a:t>
            </a:r>
            <a:r>
              <a:rPr lang="fr-FR" sz="3600" dirty="0">
                <a:ea typeface="+mn-lt"/>
                <a:cs typeface="+mn-lt"/>
              </a:rPr>
              <a:t>, J. S. Minden, P. R. </a:t>
            </a:r>
            <a:r>
              <a:rPr lang="fr-FR" sz="3600" dirty="0" err="1">
                <a:ea typeface="+mn-lt"/>
                <a:cs typeface="+mn-lt"/>
              </a:rPr>
              <a:t>LeDuc</a:t>
            </a:r>
            <a:r>
              <a:rPr lang="fr-FR" sz="3600" dirty="0">
                <a:ea typeface="+mn-lt"/>
                <a:cs typeface="+mn-lt"/>
              </a:rPr>
              <a:t>, </a:t>
            </a:r>
            <a:r>
              <a:rPr lang="fr-FR" sz="3600" i="1" dirty="0" err="1">
                <a:ea typeface="+mn-lt"/>
                <a:cs typeface="+mn-lt"/>
              </a:rPr>
              <a:t>Lab</a:t>
            </a:r>
            <a:r>
              <a:rPr lang="fr-FR" sz="3600" i="1" dirty="0">
                <a:ea typeface="+mn-lt"/>
                <a:cs typeface="+mn-lt"/>
              </a:rPr>
              <a:t> Chip.</a:t>
            </a:r>
            <a:r>
              <a:rPr lang="fr-FR" sz="3600" dirty="0">
                <a:ea typeface="+mn-lt"/>
                <a:cs typeface="+mn-lt"/>
              </a:rPr>
              <a:t> 19(7), 1141, 2019.</a:t>
            </a:r>
            <a:endParaRPr lang="fr-FR" sz="3600" dirty="0">
              <a:cs typeface="Calibri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8A0536E-8104-4D2F-97D0-B89C40DE3847}"/>
              </a:ext>
            </a:extLst>
          </p:cNvPr>
          <p:cNvSpPr txBox="1"/>
          <p:nvPr/>
        </p:nvSpPr>
        <p:spPr>
          <a:xfrm>
            <a:off x="7315963" y="5415150"/>
            <a:ext cx="4716002" cy="924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A02C2F"/>
                </a:solidFill>
              </a:defRPr>
            </a:lvl1pPr>
          </a:lstStyle>
          <a:p>
            <a:r>
              <a:rPr lang="en-US" sz="5407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cxnSp>
        <p:nvCxnSpPr>
          <p:cNvPr id="186" name="Straight Connector 185"/>
          <p:cNvCxnSpPr>
            <a:cxnSpLocks/>
          </p:cNvCxnSpPr>
          <p:nvPr/>
        </p:nvCxnSpPr>
        <p:spPr>
          <a:xfrm>
            <a:off x="0" y="5223983"/>
            <a:ext cx="49377600" cy="0"/>
          </a:xfrm>
          <a:prstGeom prst="line">
            <a:avLst/>
          </a:prstGeom>
          <a:ln w="152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7" name="Picture 18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76796" y="634948"/>
            <a:ext cx="4210374" cy="1321382"/>
          </a:xfrm>
          <a:prstGeom prst="rect">
            <a:avLst/>
          </a:prstGeom>
        </p:spPr>
      </p:pic>
      <p:pic>
        <p:nvPicPr>
          <p:cNvPr id="188" name="Picture 187" descr="ACUTE Logo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962860" y="2780530"/>
            <a:ext cx="5863443" cy="1965814"/>
          </a:xfrm>
          <a:prstGeom prst="rect">
            <a:avLst/>
          </a:prstGeom>
        </p:spPr>
      </p:pic>
      <p:sp>
        <p:nvSpPr>
          <p:cNvPr id="190" name="Rectangle 189"/>
          <p:cNvSpPr/>
          <p:nvPr/>
        </p:nvSpPr>
        <p:spPr>
          <a:xfrm>
            <a:off x="7661350" y="539371"/>
            <a:ext cx="35066594" cy="2576335"/>
          </a:xfrm>
          <a:prstGeom prst="rect">
            <a:avLst/>
          </a:prstGeom>
        </p:spPr>
        <p:txBody>
          <a:bodyPr wrap="square" lIns="113919" tIns="56954" rIns="113919" bIns="56954" anchor="t">
            <a:spAutoFit/>
          </a:bodyPr>
          <a:lstStyle/>
          <a:p>
            <a:pPr algn="ctr"/>
            <a:r>
              <a:rPr lang="en-US" sz="799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ACOUSTOFLUIDIC ROTATIONAL MANIPULATION OF </a:t>
            </a:r>
            <a:r>
              <a:rPr lang="en-US" sz="7997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DROSOPHILA</a:t>
            </a:r>
            <a:r>
              <a:rPr lang="en-US" sz="799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EMBRYOS IN A MICROFLUIDIC DEVICE</a:t>
            </a:r>
            <a:endParaRPr lang="en-US" sz="7997" b="1" u="sng" dirty="0">
              <a:cs typeface="Calibri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9698238" y="2916765"/>
            <a:ext cx="28533722" cy="2116530"/>
          </a:xfrm>
          <a:prstGeom prst="rect">
            <a:avLst/>
          </a:prstGeom>
        </p:spPr>
        <p:txBody>
          <a:bodyPr wrap="square" lIns="113919" tIns="56954" rIns="113919" bIns="56954" anchor="t">
            <a:spAutoFit/>
          </a:bodyPr>
          <a:lstStyle/>
          <a:p>
            <a:pPr indent="128325" algn="just"/>
            <a:endParaRPr lang="en-CA" sz="1799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indent="128325" algn="ctr"/>
            <a:r>
              <a:rPr lang="en-CA" sz="1799" dirty="0">
                <a:latin typeface="Times New Roman" panose="02020603050405020304" pitchFamily="18" charset="0"/>
                <a:ea typeface="MS Mincho" panose="02020609040205080304" pitchFamily="49" charset="-128"/>
              </a:rPr>
              <a:t> </a:t>
            </a:r>
            <a:r>
              <a:rPr lang="en-US" sz="5407" b="1" dirty="0">
                <a:latin typeface="+mj-lt"/>
                <a:cs typeface="+mj-lt"/>
              </a:rPr>
              <a:t>Alireza Zabihihesari, Joaquin Ramirez-Medina</a:t>
            </a:r>
            <a:r>
              <a:rPr lang="en-GB" sz="5407" b="1" dirty="0">
                <a:latin typeface="+mj-lt"/>
                <a:cs typeface="+mj-lt"/>
              </a:rPr>
              <a:t>, and </a:t>
            </a:r>
            <a:r>
              <a:rPr lang="en-US" sz="5407" b="1" dirty="0">
                <a:latin typeface="+mj-lt"/>
                <a:cs typeface="+mj-lt"/>
              </a:rPr>
              <a:t>Pouya Rezai</a:t>
            </a:r>
            <a:endParaRPr lang="en-CA" sz="5407" b="1" baseline="30000" dirty="0">
              <a:latin typeface="+mj-lt"/>
              <a:cs typeface="+mj-lt"/>
            </a:endParaRPr>
          </a:p>
          <a:p>
            <a:pPr algn="ctr">
              <a:spcBef>
                <a:spcPts val="1202"/>
              </a:spcBef>
            </a:pPr>
            <a:r>
              <a:rPr lang="en-GB" sz="4800" dirty="0">
                <a:latin typeface="+mj-lt"/>
                <a:cs typeface="+mj-lt"/>
              </a:rPr>
              <a:t> </a:t>
            </a:r>
            <a:r>
              <a:rPr lang="en-GB" sz="4800" b="1" dirty="0">
                <a:latin typeface="+mj-lt"/>
                <a:cs typeface="+mj-lt"/>
              </a:rPr>
              <a:t>Department of Mechanical Engineering, York University, Toronto, ON, Canada, E-mail: </a:t>
            </a:r>
            <a:r>
              <a:rPr lang="en-GB" sz="4800" b="1" dirty="0">
                <a:latin typeface="+mj-lt"/>
                <a:cs typeface="+mj-lt"/>
                <a:hlinkClick r:id="rId5"/>
              </a:rPr>
              <a:t>prezai@yorku.ca</a:t>
            </a:r>
            <a:r>
              <a:rPr lang="en-GB" sz="4800" b="1" dirty="0">
                <a:latin typeface="+mj-lt"/>
                <a:cs typeface="+mj-lt"/>
              </a:rPr>
              <a:t> </a:t>
            </a:r>
            <a:endParaRPr lang="en-CA" sz="4800" b="1" dirty="0">
              <a:latin typeface="+mj-lt"/>
              <a:cs typeface="+mj-lt"/>
            </a:endParaRPr>
          </a:p>
        </p:txBody>
      </p:sp>
      <p:pic>
        <p:nvPicPr>
          <p:cNvPr id="203" name="Picture 20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509955"/>
            <a:ext cx="49377600" cy="453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3DF6D4B-A42F-3EE4-E045-21AA4AD37581}"/>
              </a:ext>
            </a:extLst>
          </p:cNvPr>
          <p:cNvGrpSpPr/>
          <p:nvPr/>
        </p:nvGrpSpPr>
        <p:grpSpPr>
          <a:xfrm>
            <a:off x="1075482" y="8893214"/>
            <a:ext cx="19334161" cy="1328752"/>
            <a:chOff x="10552671" y="11962238"/>
            <a:chExt cx="19334161" cy="1328752"/>
          </a:xfrm>
        </p:grpSpPr>
        <p:sp>
          <p:nvSpPr>
            <p:cNvPr id="2" name="TextBox 10">
              <a:extLst>
                <a:ext uri="{FF2B5EF4-FFF2-40B4-BE49-F238E27FC236}">
                  <a16:creationId xmlns:a16="http://schemas.microsoft.com/office/drawing/2014/main" id="{7ABB950F-CC7F-4AA2-B9F9-11F140D40279}"/>
                </a:ext>
              </a:extLst>
            </p:cNvPr>
            <p:cNvSpPr txBox="1"/>
            <p:nvPr/>
          </p:nvSpPr>
          <p:spPr>
            <a:xfrm>
              <a:off x="10552671" y="12644979"/>
              <a:ext cx="19334161" cy="64601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en-CA" sz="3598" b="1" dirty="0">
                  <a:cs typeface="+mn-lt"/>
                </a:rPr>
                <a:t>Developing an acoustofluidic microfluidic device for rotational manipulation of </a:t>
              </a:r>
              <a:r>
                <a:rPr lang="en-CA" sz="3598" b="1" i="1" dirty="0">
                  <a:cs typeface="+mn-lt"/>
                </a:rPr>
                <a:t>Drosophila</a:t>
              </a:r>
              <a:r>
                <a:rPr lang="en-CA" sz="3598" b="1" dirty="0">
                  <a:cs typeface="+mn-lt"/>
                </a:rPr>
                <a:t> embryos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F66A87-845B-2C20-C838-2B98508FDEBA}"/>
                </a:ext>
              </a:extLst>
            </p:cNvPr>
            <p:cNvSpPr/>
            <p:nvPr/>
          </p:nvSpPr>
          <p:spPr>
            <a:xfrm>
              <a:off x="10597875" y="11962238"/>
              <a:ext cx="3177784" cy="70929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72"/>
                </a:spcBef>
              </a:pPr>
              <a:r>
                <a:rPr lang="en-GB" sz="4009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Our goal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7EBF978-7172-ADC1-F514-D5AE512486BA}"/>
              </a:ext>
            </a:extLst>
          </p:cNvPr>
          <p:cNvSpPr txBox="1"/>
          <p:nvPr/>
        </p:nvSpPr>
        <p:spPr>
          <a:xfrm>
            <a:off x="22075226" y="13327965"/>
            <a:ext cx="110285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Figure 7. Linear correlation between the channel width and the amplitude of the vacuum pressure</a:t>
            </a:r>
            <a:endParaRPr lang="en-CA" sz="2800" i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3F1734-2CAE-E6D9-6D59-41B2EB71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0540" y="28504361"/>
            <a:ext cx="184718" cy="646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34" tIns="45717" rIns="91434" bIns="45717" numCol="1" anchor="ctr" anchorCtr="0" compatLnSpc="1">
            <a:prstTxWarp prst="textNoShape">
              <a:avLst/>
            </a:prstTxWarp>
            <a:spAutoFit/>
          </a:bodyPr>
          <a:lstStyle/>
          <a:p>
            <a:pPr defTabSz="914787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CA" altLang="en-US" sz="1799">
                <a:latin typeface="Arial" panose="020B0604020202020204" pitchFamily="34" charset="0"/>
              </a:rPr>
            </a:br>
            <a:endParaRPr lang="en-CA" altLang="en-US" sz="1799"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FCD219D-BC23-C94B-A2F2-5AD6166B4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0271" y="10994685"/>
            <a:ext cx="184718" cy="646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34" tIns="45717" rIns="91434" bIns="45717" numCol="1" anchor="ctr" anchorCtr="0" compatLnSpc="1">
            <a:prstTxWarp prst="textNoShape">
              <a:avLst/>
            </a:prstTxWarp>
            <a:spAutoFit/>
          </a:bodyPr>
          <a:lstStyle/>
          <a:p>
            <a:pPr defTabSz="914787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CA" altLang="en-US" sz="1799">
                <a:latin typeface="Arial" panose="020B0604020202020204" pitchFamily="34" charset="0"/>
              </a:rPr>
            </a:br>
            <a:endParaRPr lang="en-CA" altLang="en-US" sz="1799">
              <a:latin typeface="Arial" panose="020B0604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0E0FB5-A2EE-DC9F-5A7A-9E059C1D9D46}"/>
              </a:ext>
            </a:extLst>
          </p:cNvPr>
          <p:cNvSpPr/>
          <p:nvPr/>
        </p:nvSpPr>
        <p:spPr>
          <a:xfrm>
            <a:off x="34046060" y="6302115"/>
            <a:ext cx="11478158" cy="7092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1">
              <a:spcBef>
                <a:spcPts val="672"/>
              </a:spcBef>
            </a:pPr>
            <a:r>
              <a:rPr lang="en-CA" altLang="en-US" sz="4009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voltage amplitude and excitation frequency</a:t>
            </a:r>
            <a:endParaRPr lang="en-GB" sz="4009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662E87-B8CF-EB26-8E7A-A16112587C57}"/>
              </a:ext>
            </a:extLst>
          </p:cNvPr>
          <p:cNvSpPr/>
          <p:nvPr/>
        </p:nvSpPr>
        <p:spPr>
          <a:xfrm>
            <a:off x="33881681" y="7023722"/>
            <a:ext cx="13755558" cy="40924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503555" indent="-35941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3598" dirty="0">
                <a:solidFill>
                  <a:prstClr val="black"/>
                </a:solidFill>
              </a:rPr>
              <a:t>In-plane (Fig. 8A) vortices were achieved at several frequencies in the range of 0-150 kHz while out-of-plane (Fig. 8B) vortices were achieved only at 5 kHz and 90 kHz.</a:t>
            </a:r>
            <a:endParaRPr lang="fr-FR" dirty="0"/>
          </a:p>
          <a:p>
            <a:pPr marL="503555" indent="-35941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3550" dirty="0"/>
              <a:t>Out-of-plane vortices were much stronger at 5 kHz. Therefore, this frequency was chosen for embryo rotation (Fig. 8C). </a:t>
            </a:r>
          </a:p>
          <a:p>
            <a:pPr marL="503555" indent="-35941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3550" dirty="0"/>
              <a:t>Embryos were rotated at 5 kHz and the effect of voltage amplitude was investigated at this frequency (Fig. 8D)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5DB38-8976-AD99-EB6A-DD336ED2CDDC}"/>
              </a:ext>
            </a:extLst>
          </p:cNvPr>
          <p:cNvSpPr/>
          <p:nvPr/>
        </p:nvSpPr>
        <p:spPr>
          <a:xfrm>
            <a:off x="4630278" y="8948943"/>
            <a:ext cx="1691010" cy="4759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Drosophila Life Cycle </a:t>
            </a:r>
          </a:p>
        </p:txBody>
      </p:sp>
      <p:sp>
        <p:nvSpPr>
          <p:cNvPr id="16" name="AutoShape 2" descr="Fluorescence Imaging Techniques for Studying Drosophila Embryo Development  - Mavrakis - 2008 - Current Protocols in Cell Biology - Wiley Online Library">
            <a:extLst>
              <a:ext uri="{FF2B5EF4-FFF2-40B4-BE49-F238E27FC236}">
                <a16:creationId xmlns:a16="http://schemas.microsoft.com/office/drawing/2014/main" id="{94955BDB-0C88-0A50-5D81-C339FB3838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224212" y="313716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CB8E9D7D-764B-851D-18BA-0ACA0DE35645}"/>
              </a:ext>
            </a:extLst>
          </p:cNvPr>
          <p:cNvSpPr txBox="1"/>
          <p:nvPr/>
        </p:nvSpPr>
        <p:spPr>
          <a:xfrm>
            <a:off x="634720" y="6195424"/>
            <a:ext cx="19556509" cy="2860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598" i="1" dirty="0">
                <a:cs typeface="+mn-lt"/>
              </a:rPr>
              <a:t>Drosophila melanogaster </a:t>
            </a:r>
            <a:r>
              <a:rPr lang="en-US" sz="3598" dirty="0">
                <a:cs typeface="+mn-lt"/>
              </a:rPr>
              <a:t>(fruit fly) embryonic studies require monitoring spatiotemporal dynamics of pattern formation and morphogenesis in large numbers of embryos(Fig. 1 and 2) [1].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598" dirty="0">
                <a:cs typeface="+mn-lt"/>
              </a:rPr>
              <a:t>Conventional </a:t>
            </a:r>
            <a:r>
              <a:rPr lang="en-US" sz="3598" i="1" dirty="0">
                <a:cs typeface="+mn-lt"/>
              </a:rPr>
              <a:t>Drosophila</a:t>
            </a:r>
            <a:r>
              <a:rPr lang="en-US" sz="3598" dirty="0">
                <a:cs typeface="+mn-lt"/>
              </a:rPr>
              <a:t> embryo handling and manipulation techniques are labor-intensive and time-consuming [1].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598" dirty="0">
                <a:cs typeface="+mn-lt"/>
              </a:rPr>
              <a:t>Precise rotational manipulation techniques are essential for in-vivo multidirectional imaging.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B857CCD-1D83-2DCE-CA54-E8A88BDAD246}"/>
              </a:ext>
            </a:extLst>
          </p:cNvPr>
          <p:cNvGrpSpPr/>
          <p:nvPr/>
        </p:nvGrpSpPr>
        <p:grpSpPr>
          <a:xfrm>
            <a:off x="10577726" y="10256804"/>
            <a:ext cx="9367566" cy="2994186"/>
            <a:chOff x="10691331" y="11216671"/>
            <a:chExt cx="9367566" cy="2994186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FE9CB8C-678D-43EF-A3E5-E623F5BB8615}"/>
                </a:ext>
              </a:extLst>
            </p:cNvPr>
            <p:cNvSpPr/>
            <p:nvPr/>
          </p:nvSpPr>
          <p:spPr>
            <a:xfrm>
              <a:off x="11671023" y="13687637"/>
              <a:ext cx="771607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Figure 2. Drosophila life cycle</a:t>
              </a:r>
              <a:endParaRPr lang="en-US" sz="2800" i="1" baseline="300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0AAD89B-7D8A-F996-F7EF-0A1A2CB5E7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691331" y="11216671"/>
              <a:ext cx="9367566" cy="2535608"/>
              <a:chOff x="698040" y="11776966"/>
              <a:chExt cx="6625464" cy="1645115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92656E0-D37E-61F2-22D9-A4076A38FF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860" y="11808743"/>
                <a:ext cx="6593644" cy="1613338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5FDD6F9-47D2-4948-E94A-4F0D6F9DF9A9}"/>
                  </a:ext>
                </a:extLst>
              </p:cNvPr>
              <p:cNvSpPr/>
              <p:nvPr/>
            </p:nvSpPr>
            <p:spPr>
              <a:xfrm>
                <a:off x="698040" y="11776966"/>
                <a:ext cx="21775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Drosophila Life Cycle </a:t>
                </a:r>
              </a:p>
            </p:txBody>
          </p:sp>
        </p:grpSp>
      </p:grpSp>
      <p:pic>
        <p:nvPicPr>
          <p:cNvPr id="128" name="Picture 127" descr="A picture containing text, indoor, arranged&#10;&#10;Description automatically generated">
            <a:extLst>
              <a:ext uri="{FF2B5EF4-FFF2-40B4-BE49-F238E27FC236}">
                <a16:creationId xmlns:a16="http://schemas.microsoft.com/office/drawing/2014/main" id="{8F1E1A41-0E98-9767-8572-3C4B3A1C89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972" y="16537222"/>
            <a:ext cx="9375348" cy="5612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E7C927B3-3F9D-1262-D1B1-A540C1948F23}"/>
                  </a:ext>
                </a:extLst>
              </p:cNvPr>
              <p:cNvSpPr txBox="1"/>
              <p:nvPr/>
            </p:nvSpPr>
            <p:spPr>
              <a:xfrm>
                <a:off x="7497335" y="27251127"/>
                <a:ext cx="14364013" cy="1229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82880" algn="just">
                  <a:lnSpc>
                    <a:spcPct val="95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𝑊</m:t>
                          </m:r>
                        </m:e>
                        <m:sup>
                          <m:r>
                            <a:rPr lang="en-US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′</m:t>
                          </m:r>
                        </m:sup>
                      </m:sSup>
                      <m:r>
                        <a:rPr lang="en-US" sz="3200" i="1" spc="-5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sz="3200" i="1" spc="-5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𝑊</m:t>
                      </m:r>
                      <m:r>
                        <a:rPr lang="en-US" sz="3200" i="1" spc="-5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d>
                        <m:dPr>
                          <m:ctrlPr>
                            <a:rPr lang="en-CA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𝑃</m:t>
                              </m:r>
                              <m:sSup>
                                <m:sSup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ℎ</m:t>
                                  </m:r>
                                </m:e>
                                <m:sup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16</m:t>
                              </m:r>
                              <m: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𝐸</m:t>
                              </m:r>
                              <m:sSup>
                                <m:sSup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3200" i="1" spc="-5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3200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sz="3200" i="1" spc="-5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12+11</m:t>
                                  </m:r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pc="-5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</m:t>
                                  </m:r>
                                  <m:sSup>
                                    <m:sSupPr>
                                      <m:ctrlP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ℎ</m:t>
                                      </m:r>
                                    </m:e>
                                    <m:sup>
                                      <m:r>
                                        <a:rPr lang="en-US" sz="3200" i="1" spc="-5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3200" b="0" i="0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         </m:t>
                      </m:r>
                      <m:r>
                        <a:rPr lang="en-CA" sz="3200" b="0" i="0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CA" sz="3200" b="0" i="0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Eq</m:t>
                      </m:r>
                      <m:r>
                        <a:rPr lang="en-CA" sz="3200" b="0" i="0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 1)</m:t>
                      </m:r>
                    </m:oMath>
                  </m:oMathPara>
                </a14:m>
                <a:endParaRPr lang="en-CA" sz="4000" spc="-5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E7C927B3-3F9D-1262-D1B1-A540C1948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335" y="27251127"/>
                <a:ext cx="14364013" cy="1229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5" name="Rectangle 1054">
            <a:extLst>
              <a:ext uri="{FF2B5EF4-FFF2-40B4-BE49-F238E27FC236}">
                <a16:creationId xmlns:a16="http://schemas.microsoft.com/office/drawing/2014/main" id="{503C5F15-E5E4-27B2-57AC-80E8659C6DAF}"/>
              </a:ext>
            </a:extLst>
          </p:cNvPr>
          <p:cNvSpPr/>
          <p:nvPr/>
        </p:nvSpPr>
        <p:spPr>
          <a:xfrm>
            <a:off x="8770621" y="31339330"/>
            <a:ext cx="111816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Figure 6. The microchannel was filled with fluorescent dye and microchannel width was  measured  before (A) and after (B) applying negative pressure</a:t>
            </a:r>
            <a:endParaRPr lang="en-US" sz="2800" i="1" baseline="30000" dirty="0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2A52857D-0EFD-43D6-3B47-84DA0BCD30B9}"/>
              </a:ext>
            </a:extLst>
          </p:cNvPr>
          <p:cNvSpPr/>
          <p:nvPr/>
        </p:nvSpPr>
        <p:spPr>
          <a:xfrm>
            <a:off x="986724" y="22108044"/>
            <a:ext cx="87357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Fig. 3. A) Microfluidic device. B) Pneumatic embryo trapping and releasing module. C) acoustofluidic module  </a:t>
            </a:r>
            <a:endParaRPr lang="en-US" sz="2800" i="1" baseline="30000" dirty="0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68B0D7DE-C141-66F7-37FB-5E06F513518A}"/>
              </a:ext>
            </a:extLst>
          </p:cNvPr>
          <p:cNvSpPr/>
          <p:nvPr/>
        </p:nvSpPr>
        <p:spPr>
          <a:xfrm>
            <a:off x="10462789" y="22081217"/>
            <a:ext cx="94325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Figure 4. Experimental setup</a:t>
            </a:r>
            <a:endParaRPr lang="en-US" sz="2800" i="1" baseline="30000" dirty="0"/>
          </a:p>
        </p:txBody>
      </p:sp>
      <p:graphicFrame>
        <p:nvGraphicFramePr>
          <p:cNvPr id="1072" name="Content Placeholder 9">
            <a:extLst>
              <a:ext uri="{FF2B5EF4-FFF2-40B4-BE49-F238E27FC236}">
                <a16:creationId xmlns:a16="http://schemas.microsoft.com/office/drawing/2014/main" id="{8046ABD3-7CA2-867D-D2BA-C76C1BA3CD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208072"/>
              </p:ext>
            </p:extLst>
          </p:nvPr>
        </p:nvGraphicFramePr>
        <p:xfrm>
          <a:off x="22867841" y="8419415"/>
          <a:ext cx="8469409" cy="5015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BEF51A2-F308-2C81-23FD-47C1DAC9BDD9}"/>
              </a:ext>
            </a:extLst>
          </p:cNvPr>
          <p:cNvSpPr/>
          <p:nvPr/>
        </p:nvSpPr>
        <p:spPr>
          <a:xfrm>
            <a:off x="33830922" y="16360460"/>
            <a:ext cx="11218605" cy="7092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1">
              <a:spcBef>
                <a:spcPts val="672"/>
              </a:spcBef>
            </a:pPr>
            <a:r>
              <a:rPr lang="en-CA" sz="4009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Step-wise out-of-plane rotation of embryos</a:t>
            </a:r>
            <a:endParaRPr lang="en-GB" sz="4009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12F89-9797-5587-A85D-5649D717083C}"/>
              </a:ext>
            </a:extLst>
          </p:cNvPr>
          <p:cNvSpPr/>
          <p:nvPr/>
        </p:nvSpPr>
        <p:spPr>
          <a:xfrm>
            <a:off x="33881681" y="17223478"/>
            <a:ext cx="10538776" cy="3491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000" indent="-3600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3598" dirty="0">
                <a:solidFill>
                  <a:prstClr val="black"/>
                </a:solidFill>
              </a:rPr>
              <a:t>For high resolution multidirectional imaging of embryos, step-wise rotation of embryos was investigated by applying pulses with different durations (pulse width)</a:t>
            </a:r>
          </a:p>
          <a:p>
            <a:pPr marL="504000" indent="-3600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3600" dirty="0">
                <a:latin typeface="Calibri"/>
                <a:ea typeface="+mn-lt"/>
                <a:cs typeface="+mn-lt"/>
              </a:rPr>
              <a:t>Smallest increment recorded was 2.3­° per pulse at a pulse width of 20 </a:t>
            </a:r>
            <a:r>
              <a:rPr lang="en-CA" sz="3600" dirty="0" err="1">
                <a:latin typeface="Calibri"/>
                <a:ea typeface="+mn-lt"/>
                <a:cs typeface="+mn-lt"/>
              </a:rPr>
              <a:t>ms.</a:t>
            </a:r>
            <a:endParaRPr lang="en-CA" sz="3598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FB310B-17BB-682B-EAC7-86A8F08FD0A8}"/>
              </a:ext>
            </a:extLst>
          </p:cNvPr>
          <p:cNvSpPr txBox="1"/>
          <p:nvPr/>
        </p:nvSpPr>
        <p:spPr>
          <a:xfrm>
            <a:off x="34975909" y="25732190"/>
            <a:ext cx="767982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i="1" dirty="0"/>
              <a:t>Figure 10. Plot of rotational angle as a function of pulse width in stepwise rotation  for embryos</a:t>
            </a:r>
            <a:endParaRPr lang="en-CA" sz="2800" i="1" dirty="0">
              <a:cs typeface="Calibri" panose="020F0502020204030204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424562D-DA80-D6C4-D8E4-31A5567A5C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675131"/>
              </p:ext>
            </p:extLst>
          </p:nvPr>
        </p:nvGraphicFramePr>
        <p:xfrm>
          <a:off x="34378951" y="20715459"/>
          <a:ext cx="9043031" cy="5293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E89FB655-C5FD-4247-692B-01B92ABFBB90}"/>
              </a:ext>
            </a:extLst>
          </p:cNvPr>
          <p:cNvGrpSpPr/>
          <p:nvPr/>
        </p:nvGrpSpPr>
        <p:grpSpPr>
          <a:xfrm>
            <a:off x="-1624331" y="10222658"/>
            <a:ext cx="13549379" cy="2981233"/>
            <a:chOff x="-1952575" y="11043268"/>
            <a:chExt cx="13549379" cy="298123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D6499AB-8D84-C0F0-1D9B-D585A5CDF699}"/>
                </a:ext>
              </a:extLst>
            </p:cNvPr>
            <p:cNvSpPr/>
            <p:nvPr/>
          </p:nvSpPr>
          <p:spPr>
            <a:xfrm>
              <a:off x="-1952575" y="13501281"/>
              <a:ext cx="1354937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/>
                <a:t>Figure 1. Embryos A) before and B) after </a:t>
              </a:r>
              <a:r>
                <a:rPr lang="en-US" sz="2800" i="1" dirty="0" err="1"/>
                <a:t>dechorionation</a:t>
              </a:r>
              <a:endParaRPr lang="en-US" sz="2800" i="1" baseline="300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9F35B66-4D8D-C701-8C1B-459E749503A5}"/>
                </a:ext>
              </a:extLst>
            </p:cNvPr>
            <p:cNvGrpSpPr/>
            <p:nvPr/>
          </p:nvGrpSpPr>
          <p:grpSpPr>
            <a:xfrm>
              <a:off x="2543949" y="11043268"/>
              <a:ext cx="3707905" cy="2566288"/>
              <a:chOff x="5107435" y="9613542"/>
              <a:chExt cx="4206635" cy="3033537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F2432C30-1FA2-D6DF-6374-84DF18735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07435" y="9747360"/>
                <a:ext cx="4206635" cy="2899719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1A59B77-4278-C179-3736-A4302DBBA7A9}"/>
                  </a:ext>
                </a:extLst>
              </p:cNvPr>
              <p:cNvSpPr txBox="1"/>
              <p:nvPr/>
            </p:nvSpPr>
            <p:spPr>
              <a:xfrm>
                <a:off x="5286248" y="9613542"/>
                <a:ext cx="253654" cy="691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3200" b="1" dirty="0"/>
                  <a:t>)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A0EAA0E-B088-9B9B-F148-F7202F793B0A}"/>
                  </a:ext>
                </a:extLst>
              </p:cNvPr>
              <p:cNvSpPr txBox="1"/>
              <p:nvPr/>
            </p:nvSpPr>
            <p:spPr>
              <a:xfrm>
                <a:off x="7530694" y="9618482"/>
                <a:ext cx="3129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b="1" dirty="0"/>
                  <a:t>)</a:t>
                </a:r>
              </a:p>
            </p:txBody>
          </p:sp>
        </p:grpSp>
      </p:grpSp>
      <p:sp>
        <p:nvSpPr>
          <p:cNvPr id="26" name="TextBox 21">
            <a:extLst>
              <a:ext uri="{FF2B5EF4-FFF2-40B4-BE49-F238E27FC236}">
                <a16:creationId xmlns:a16="http://schemas.microsoft.com/office/drawing/2014/main" id="{6DF2B966-202D-27DE-808D-AC9756BAA43E}"/>
              </a:ext>
            </a:extLst>
          </p:cNvPr>
          <p:cNvSpPr txBox="1"/>
          <p:nvPr/>
        </p:nvSpPr>
        <p:spPr>
          <a:xfrm>
            <a:off x="44453957" y="25696546"/>
            <a:ext cx="480425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i="1" dirty="0">
                <a:cs typeface="Calibri" panose="020F0502020204030204"/>
              </a:rPr>
              <a:t>Figure 11. The step-wise rotation of an embryo by the microbubble oscillations</a:t>
            </a:r>
            <a:endParaRPr lang="fr-FR" sz="28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D1142A-F9B4-3ABE-4EAD-4871C7E2200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73608"/>
          <a:stretch/>
        </p:blipFill>
        <p:spPr>
          <a:xfrm>
            <a:off x="604098" y="53246"/>
            <a:ext cx="2638601" cy="2428073"/>
          </a:xfrm>
          <a:prstGeom prst="rect">
            <a:avLst/>
          </a:prstGeom>
        </p:spPr>
      </p:pic>
      <p:pic>
        <p:nvPicPr>
          <p:cNvPr id="28" name="Picture 27" descr="1200px-Natural_Sciences_and_Engineering_Research_Council_Logo.svg">
            <a:extLst>
              <a:ext uri="{FF2B5EF4-FFF2-40B4-BE49-F238E27FC236}">
                <a16:creationId xmlns:a16="http://schemas.microsoft.com/office/drawing/2014/main" id="{2BA5B22D-9714-0ED9-EAD2-9CBF496971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58985" y="2550430"/>
            <a:ext cx="6380273" cy="2733187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680CE574-E370-E684-9A75-959EAEA8DE8A}"/>
              </a:ext>
            </a:extLst>
          </p:cNvPr>
          <p:cNvSpPr/>
          <p:nvPr/>
        </p:nvSpPr>
        <p:spPr>
          <a:xfrm>
            <a:off x="1632545" y="31375647"/>
            <a:ext cx="59521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/>
              <a:t>Figure 5. Schematic of  the trapping &amp; releasing module</a:t>
            </a:r>
            <a:endParaRPr lang="en-US" sz="2800" i="1" baseline="30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05E0E84-1805-E47D-E03C-0D4E2F280ABC}"/>
              </a:ext>
            </a:extLst>
          </p:cNvPr>
          <p:cNvSpPr txBox="1"/>
          <p:nvPr/>
        </p:nvSpPr>
        <p:spPr>
          <a:xfrm>
            <a:off x="34273354" y="13317495"/>
            <a:ext cx="8036191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i="1" dirty="0"/>
              <a:t>Figure 8. Demonstration of in-plane vortices at 33 kHz - 10 </a:t>
            </a:r>
            <a:r>
              <a:rPr lang="en-US" sz="2800" i="1" dirty="0" err="1"/>
              <a:t>Vpp</a:t>
            </a:r>
            <a:r>
              <a:rPr lang="en-US" sz="2800" i="1" dirty="0"/>
              <a:t>   (A) and out-of-plane vortices at and  5 kHz – 10 </a:t>
            </a:r>
            <a:r>
              <a:rPr lang="en-US" sz="2800" i="1" dirty="0" err="1"/>
              <a:t>Vpp</a:t>
            </a:r>
            <a:r>
              <a:rPr lang="en-US" sz="2800" i="1" dirty="0"/>
              <a:t> (B) using microparticles. C) Out-of-plane rotation of Drosophila embryo at 5 kHz-10 </a:t>
            </a:r>
            <a:r>
              <a:rPr lang="en-US" sz="2800" i="1" dirty="0" err="1"/>
              <a:t>Vpp</a:t>
            </a:r>
            <a:r>
              <a:rPr lang="en-US" sz="2800" i="1" dirty="0"/>
              <a:t> in the microfluidic device. D) The embryos’ angular velocity increased by increasing the voltage amplitude. </a:t>
            </a:r>
            <a:endParaRPr lang="en-US" sz="2800" i="1" dirty="0">
              <a:cs typeface="Calibri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354B920-F3A5-07FA-B15E-92876E075AB8}"/>
              </a:ext>
            </a:extLst>
          </p:cNvPr>
          <p:cNvSpPr txBox="1"/>
          <p:nvPr/>
        </p:nvSpPr>
        <p:spPr>
          <a:xfrm>
            <a:off x="18093406" y="27908077"/>
            <a:ext cx="1332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[3]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4CF539-3785-7205-9394-6973016190C4}"/>
              </a:ext>
            </a:extLst>
          </p:cNvPr>
          <p:cNvSpPr txBox="1"/>
          <p:nvPr/>
        </p:nvSpPr>
        <p:spPr>
          <a:xfrm>
            <a:off x="42327088" y="11124662"/>
            <a:ext cx="1290452" cy="64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/>
              <a:t>D)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C72DF1C-CA9E-83B1-CD07-E703EE758682}"/>
              </a:ext>
            </a:extLst>
          </p:cNvPr>
          <p:cNvGrpSpPr/>
          <p:nvPr/>
        </p:nvGrpSpPr>
        <p:grpSpPr>
          <a:xfrm>
            <a:off x="45114581" y="16858021"/>
            <a:ext cx="3646541" cy="8890482"/>
            <a:chOff x="44545186" y="17245764"/>
            <a:chExt cx="3646541" cy="8890482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48B817CD-AD94-9C8E-E5CB-D0C1FFCE57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42"/>
            <a:stretch/>
          </p:blipFill>
          <p:spPr>
            <a:xfrm>
              <a:off x="44545186" y="17245764"/>
              <a:ext cx="3580152" cy="8890482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8AF127-29A7-ECC1-F4CF-D4665338B963}"/>
                </a:ext>
              </a:extLst>
            </p:cNvPr>
            <p:cNvCxnSpPr/>
            <p:nvPr/>
          </p:nvCxnSpPr>
          <p:spPr>
            <a:xfrm>
              <a:off x="47190199" y="18649201"/>
              <a:ext cx="81280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5E95F9-C0AD-C396-D345-513F8858946C}"/>
                </a:ext>
              </a:extLst>
            </p:cNvPr>
            <p:cNvSpPr txBox="1"/>
            <p:nvPr/>
          </p:nvSpPr>
          <p:spPr>
            <a:xfrm>
              <a:off x="47112164" y="18636002"/>
              <a:ext cx="1079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b="1" dirty="0">
                  <a:solidFill>
                    <a:schemeClr val="bg1"/>
                  </a:solidFill>
                </a:rPr>
                <a:t>100 </a:t>
              </a:r>
              <a:r>
                <a:rPr lang="el-GR" sz="2000" b="1" dirty="0">
                  <a:solidFill>
                    <a:schemeClr val="bg1"/>
                  </a:solidFill>
                </a:rPr>
                <a:t>μ</a:t>
              </a:r>
              <a:r>
                <a:rPr lang="en-CA" sz="2000" b="1" dirty="0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4EDC5F-D066-01A8-226A-A9A7166F5279}"/>
              </a:ext>
            </a:extLst>
          </p:cNvPr>
          <p:cNvGrpSpPr/>
          <p:nvPr/>
        </p:nvGrpSpPr>
        <p:grpSpPr>
          <a:xfrm>
            <a:off x="1119124" y="16452342"/>
            <a:ext cx="8909317" cy="5706877"/>
            <a:chOff x="884664" y="17214164"/>
            <a:chExt cx="8909317" cy="5706877"/>
          </a:xfrm>
        </p:grpSpPr>
        <p:pic>
          <p:nvPicPr>
            <p:cNvPr id="73" name="Picture 72" descr="Graphical user interface&#10;&#10;Description automatically generated">
              <a:extLst>
                <a:ext uri="{FF2B5EF4-FFF2-40B4-BE49-F238E27FC236}">
                  <a16:creationId xmlns:a16="http://schemas.microsoft.com/office/drawing/2014/main" id="{EDF94ABA-3ED0-6D40-91C2-B6355F720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885" y="17299044"/>
              <a:ext cx="4276293" cy="5604728"/>
            </a:xfrm>
            <a:prstGeom prst="rect">
              <a:avLst/>
            </a:prstGeom>
          </p:spPr>
        </p:pic>
        <p:pic>
          <p:nvPicPr>
            <p:cNvPr id="63" name="Picture 62" descr="A close up of a piece of paper with writing on it&#10;&#10;Description automatically generated with low confidence">
              <a:extLst>
                <a:ext uri="{FF2B5EF4-FFF2-40B4-BE49-F238E27FC236}">
                  <a16:creationId xmlns:a16="http://schemas.microsoft.com/office/drawing/2014/main" id="{AAF69CEC-DF2B-EB5C-F3D5-3216DDA10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628" y="17299044"/>
              <a:ext cx="4374099" cy="2763981"/>
            </a:xfrm>
            <a:prstGeom prst="rect">
              <a:avLst/>
            </a:prstGeom>
          </p:spPr>
        </p:pic>
        <p:pic>
          <p:nvPicPr>
            <p:cNvPr id="68" name="Picture 67" descr="A picture containing text, wall, indoor, white&#10;&#10;Description automatically generated">
              <a:extLst>
                <a:ext uri="{FF2B5EF4-FFF2-40B4-BE49-F238E27FC236}">
                  <a16:creationId xmlns:a16="http://schemas.microsoft.com/office/drawing/2014/main" id="{5C3E1951-892F-C1C2-5ECF-CAA3CCC76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8898" y="20173113"/>
              <a:ext cx="4364355" cy="2747927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8634982-A7BE-AA90-5EE5-729F7FCF7E7F}"/>
                </a:ext>
              </a:extLst>
            </p:cNvPr>
            <p:cNvSpPr txBox="1"/>
            <p:nvPr/>
          </p:nvSpPr>
          <p:spPr>
            <a:xfrm>
              <a:off x="884664" y="17256580"/>
              <a:ext cx="934072" cy="784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4400" b="1" dirty="0">
                  <a:solidFill>
                    <a:schemeClr val="bg1"/>
                  </a:solidFill>
                </a:rPr>
                <a:t>A)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321375-D38C-1E1E-8B82-DBF453E18464}"/>
                </a:ext>
              </a:extLst>
            </p:cNvPr>
            <p:cNvSpPr/>
            <p:nvPr/>
          </p:nvSpPr>
          <p:spPr>
            <a:xfrm>
              <a:off x="3135630" y="20067325"/>
              <a:ext cx="402742" cy="26664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3E1875-4DF6-A852-6A44-5D6DBF96E0C5}"/>
                </a:ext>
              </a:extLst>
            </p:cNvPr>
            <p:cNvSpPr/>
            <p:nvPr/>
          </p:nvSpPr>
          <p:spPr>
            <a:xfrm>
              <a:off x="3785510" y="20158765"/>
              <a:ext cx="240664" cy="10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49CFAB6-084E-32A3-E18C-29648C9DF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6336" y="17338577"/>
              <a:ext cx="2162562" cy="2673906"/>
            </a:xfrm>
            <a:prstGeom prst="line">
              <a:avLst/>
            </a:prstGeom>
            <a:ln w="190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4D4FAAE-0A5A-7DE6-8681-A08628A59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0018" y="20024725"/>
              <a:ext cx="1788880" cy="64929"/>
            </a:xfrm>
            <a:prstGeom prst="line">
              <a:avLst/>
            </a:prstGeom>
            <a:ln w="190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B20AEE1-395A-D7E0-EA3E-CD10F4486404}"/>
                </a:ext>
              </a:extLst>
            </p:cNvPr>
            <p:cNvCxnSpPr>
              <a:cxnSpLocks/>
            </p:cNvCxnSpPr>
            <p:nvPr/>
          </p:nvCxnSpPr>
          <p:spPr>
            <a:xfrm>
              <a:off x="4011438" y="20188971"/>
              <a:ext cx="1303558" cy="5124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8DBF1FF-1D85-601C-66C8-F19F1CDD80F3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>
              <a:off x="3785510" y="20212765"/>
              <a:ext cx="1532512" cy="27082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4D11C28-CFC4-921D-264E-09C99EACC8E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68361" y="17214164"/>
              <a:ext cx="833377" cy="3676978"/>
              <a:chOff x="1319445" y="15185843"/>
              <a:chExt cx="745369" cy="3255166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70E496-3525-69B8-29C2-EB65A1E20452}"/>
                  </a:ext>
                </a:extLst>
              </p:cNvPr>
              <p:cNvSpPr txBox="1"/>
              <p:nvPr/>
            </p:nvSpPr>
            <p:spPr>
              <a:xfrm>
                <a:off x="1319445" y="15185843"/>
                <a:ext cx="716113" cy="688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4400" b="1" dirty="0">
                    <a:solidFill>
                      <a:schemeClr val="bg1"/>
                    </a:solidFill>
                  </a:rPr>
                  <a:t>B)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1B55A6-D768-7F10-5EA9-4F8A5849BE1C}"/>
                  </a:ext>
                </a:extLst>
              </p:cNvPr>
              <p:cNvSpPr txBox="1"/>
              <p:nvPr/>
            </p:nvSpPr>
            <p:spPr>
              <a:xfrm>
                <a:off x="1330931" y="17752825"/>
                <a:ext cx="733883" cy="688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4400" b="1" dirty="0">
                    <a:solidFill>
                      <a:schemeClr val="bg1"/>
                    </a:solidFill>
                  </a:rPr>
                  <a:t>C)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DEDC2B9-DA7F-6F4A-2A58-FFDFEAC49A6A}"/>
                </a:ext>
              </a:extLst>
            </p:cNvPr>
            <p:cNvSpPr txBox="1"/>
            <p:nvPr/>
          </p:nvSpPr>
          <p:spPr>
            <a:xfrm>
              <a:off x="6060922" y="17652858"/>
              <a:ext cx="26820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b="1" dirty="0">
                  <a:solidFill>
                    <a:schemeClr val="bg1"/>
                  </a:solidFill>
                </a:rPr>
                <a:t>PDMS membrane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F4F2C4-97DC-2A0D-1F98-0C8669D6E4EE}"/>
                </a:ext>
              </a:extLst>
            </p:cNvPr>
            <p:cNvSpPr txBox="1"/>
            <p:nvPr/>
          </p:nvSpPr>
          <p:spPr>
            <a:xfrm>
              <a:off x="7111945" y="20640116"/>
              <a:ext cx="26820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b="1" dirty="0">
                  <a:solidFill>
                    <a:schemeClr val="bg1"/>
                  </a:solidFill>
                </a:rPr>
                <a:t>Microbubble traps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E85B7D4-4AC6-0DB7-D668-A5B7C72351F6}"/>
                </a:ext>
              </a:extLst>
            </p:cNvPr>
            <p:cNvSpPr txBox="1"/>
            <p:nvPr/>
          </p:nvSpPr>
          <p:spPr>
            <a:xfrm>
              <a:off x="1290321" y="21281982"/>
              <a:ext cx="17566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A" sz="2400" b="1" dirty="0">
                  <a:solidFill>
                    <a:schemeClr val="bg1"/>
                  </a:solidFill>
                </a:rPr>
                <a:t>Transducer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25F2CCC-8D0F-600E-94B1-78BBA51878E9}"/>
                </a:ext>
              </a:extLst>
            </p:cNvPr>
            <p:cNvSpPr txBox="1"/>
            <p:nvPr/>
          </p:nvSpPr>
          <p:spPr>
            <a:xfrm>
              <a:off x="5688464" y="19178622"/>
              <a:ext cx="26820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b="1" dirty="0">
                  <a:solidFill>
                    <a:schemeClr val="bg1"/>
                  </a:solidFill>
                </a:rPr>
                <a:t>PDMS membrane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41BAC60-4D22-8C55-CAE7-B34692CE1B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5637" y="18817102"/>
              <a:ext cx="0" cy="35448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EE9383A-85A4-0D8B-5628-2F7D522DB0D9}"/>
                </a:ext>
              </a:extLst>
            </p:cNvPr>
            <p:cNvCxnSpPr>
              <a:cxnSpLocks/>
            </p:cNvCxnSpPr>
            <p:nvPr/>
          </p:nvCxnSpPr>
          <p:spPr>
            <a:xfrm>
              <a:off x="7936190" y="18041509"/>
              <a:ext cx="0" cy="3638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5B84C817-449F-6F66-22A1-C2B6BDC42615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8439150" y="21101781"/>
              <a:ext cx="13813" cy="485679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36316BA-83DB-3F9F-E78C-2BFDA3FD7EEC}"/>
                </a:ext>
              </a:extLst>
            </p:cNvPr>
            <p:cNvCxnSpPr>
              <a:cxnSpLocks/>
            </p:cNvCxnSpPr>
            <p:nvPr/>
          </p:nvCxnSpPr>
          <p:spPr>
            <a:xfrm>
              <a:off x="2877819" y="21547965"/>
              <a:ext cx="515622" cy="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395CC34-C5AC-7A0D-D08F-4FA887B8CCCC}"/>
              </a:ext>
            </a:extLst>
          </p:cNvPr>
          <p:cNvGrpSpPr/>
          <p:nvPr/>
        </p:nvGrpSpPr>
        <p:grpSpPr>
          <a:xfrm>
            <a:off x="9539255" y="28688336"/>
            <a:ext cx="9172841" cy="2588415"/>
            <a:chOff x="9615455" y="28573572"/>
            <a:chExt cx="9172841" cy="2588415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94C4F52D-9117-6CFF-DC89-33079EA5562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41927" y="28573572"/>
              <a:ext cx="9146369" cy="2588415"/>
              <a:chOff x="13674748" y="15850330"/>
              <a:chExt cx="6355057" cy="1798476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7A62484C-1E10-CAE3-4671-FADAB3F5D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brightnessContrast contrast="49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3676948" y="15850330"/>
                <a:ext cx="3139712" cy="1798476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BB20554D-241B-2621-A78B-C9512C65D0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BEBA8EAE-BF5A-486C-A8C5-ECC9F3942E4B}">
                    <a14:imgProps xmlns:a14="http://schemas.microsoft.com/office/drawing/2010/main">
                      <a14:imgLayer r:embed="rId23">
                        <a14:imgEffect>
                          <a14:brightnessContrast bright="-12000" contrast="24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883996" y="15850330"/>
                <a:ext cx="3145809" cy="1798476"/>
              </a:xfrm>
              <a:prstGeom prst="rect">
                <a:avLst/>
              </a:prstGeom>
            </p:spPr>
          </p:pic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FF82FFB3-EAA9-D11B-BE1E-D8A18D7F05F9}"/>
                  </a:ext>
                </a:extLst>
              </p:cNvPr>
              <p:cNvGrpSpPr/>
              <p:nvPr/>
            </p:nvGrpSpPr>
            <p:grpSpPr>
              <a:xfrm>
                <a:off x="13674748" y="17320825"/>
                <a:ext cx="1003300" cy="255838"/>
                <a:chOff x="13650990" y="15142725"/>
                <a:chExt cx="1003300" cy="255838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B5E7E5D4-2A11-5741-D266-EC2D555AF1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756640" y="15183801"/>
                  <a:ext cx="396000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2D16FF2-8964-6806-B47E-B74F1209E38D}"/>
                    </a:ext>
                  </a:extLst>
                </p:cNvPr>
                <p:cNvSpPr txBox="1"/>
                <p:nvPr/>
              </p:nvSpPr>
              <p:spPr>
                <a:xfrm>
                  <a:off x="13650990" y="15142725"/>
                  <a:ext cx="1003300" cy="2558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400" b="1" dirty="0">
                      <a:solidFill>
                        <a:schemeClr val="bg1"/>
                      </a:solidFill>
                    </a:rPr>
                    <a:t>300 µm</a:t>
                  </a: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83F261B-B155-C8EE-A006-96B5C466EF43}"/>
                  </a:ext>
                </a:extLst>
              </p:cNvPr>
              <p:cNvGrpSpPr/>
              <p:nvPr/>
            </p:nvGrpSpPr>
            <p:grpSpPr>
              <a:xfrm>
                <a:off x="16847505" y="17320824"/>
                <a:ext cx="1003300" cy="255838"/>
                <a:chOff x="13650990" y="15142725"/>
                <a:chExt cx="1003300" cy="255838"/>
              </a:xfrm>
            </p:grpSpPr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8FD87F7A-EF2D-246F-D174-B1CCC38FC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756640" y="15183801"/>
                  <a:ext cx="396000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FE2A285-AD2E-A723-D8EE-EED12AA00C28}"/>
                    </a:ext>
                  </a:extLst>
                </p:cNvPr>
                <p:cNvSpPr txBox="1"/>
                <p:nvPr/>
              </p:nvSpPr>
              <p:spPr>
                <a:xfrm>
                  <a:off x="13650990" y="15142725"/>
                  <a:ext cx="1003300" cy="2558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400" b="1" dirty="0">
                      <a:solidFill>
                        <a:schemeClr val="bg1"/>
                      </a:solidFill>
                    </a:rPr>
                    <a:t>300 µm</a:t>
                  </a:r>
                </a:p>
              </p:txBody>
            </p:sp>
          </p:grp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9299B1E-AEE2-E7ED-348D-6F06ABE66E2C}"/>
                  </a:ext>
                </a:extLst>
              </p:cNvPr>
              <p:cNvCxnSpPr/>
              <p:nvPr/>
            </p:nvCxnSpPr>
            <p:spPr>
              <a:xfrm>
                <a:off x="16883996" y="16510209"/>
                <a:ext cx="312087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75179D3-3E11-2C14-3599-FF7AE28B0278}"/>
                  </a:ext>
                </a:extLst>
              </p:cNvPr>
              <p:cNvCxnSpPr/>
              <p:nvPr/>
            </p:nvCxnSpPr>
            <p:spPr>
              <a:xfrm>
                <a:off x="16886555" y="16898829"/>
                <a:ext cx="312087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CA1F9B0-FF98-9268-EFDD-A41898D0ACC1}"/>
                </a:ext>
              </a:extLst>
            </p:cNvPr>
            <p:cNvSpPr txBox="1"/>
            <p:nvPr/>
          </p:nvSpPr>
          <p:spPr>
            <a:xfrm>
              <a:off x="9762540" y="28583874"/>
              <a:ext cx="9205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b="1" dirty="0">
                  <a:solidFill>
                    <a:schemeClr val="bg1"/>
                  </a:solidFill>
                </a:rPr>
                <a:t>A)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B1C811-BF28-094A-72C2-B939A4BE0BC2}"/>
                </a:ext>
              </a:extLst>
            </p:cNvPr>
            <p:cNvSpPr txBox="1"/>
            <p:nvPr/>
          </p:nvSpPr>
          <p:spPr>
            <a:xfrm>
              <a:off x="14439433" y="28585330"/>
              <a:ext cx="9205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b="1" dirty="0">
                  <a:solidFill>
                    <a:schemeClr val="bg1"/>
                  </a:solidFill>
                </a:rPr>
                <a:t>B)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AAB991F-B99B-C09F-46FA-5CCFDAF562E6}"/>
                </a:ext>
              </a:extLst>
            </p:cNvPr>
            <p:cNvCxnSpPr>
              <a:cxnSpLocks/>
            </p:cNvCxnSpPr>
            <p:nvPr/>
          </p:nvCxnSpPr>
          <p:spPr>
            <a:xfrm>
              <a:off x="12082630" y="29523288"/>
              <a:ext cx="0" cy="55931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44425EA1-8D69-2EA7-1C5E-A7BD08B70AB1}"/>
                    </a:ext>
                  </a:extLst>
                </p:cNvPr>
                <p:cNvSpPr txBox="1"/>
                <p:nvPr/>
              </p:nvSpPr>
              <p:spPr>
                <a:xfrm>
                  <a:off x="9615455" y="29595145"/>
                  <a:ext cx="24671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>
                      <a:cs typeface="+mn-lt"/>
                    </a:rPr>
                    <a:t>channel width</a:t>
                  </a:r>
                  <a:r>
                    <a:rPr lang="en-CA" sz="2400" b="1" dirty="0"/>
                    <a:t>:</a:t>
                  </a:r>
                  <a14:m>
                    <m:oMath xmlns:m="http://schemas.openxmlformats.org/officeDocument/2006/math">
                      <m:r>
                        <a:rPr lang="en-CA" sz="2400" b="1" i="0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</m:t>
                      </m:r>
                      <m:r>
                        <a:rPr lang="en-US" sz="2400" b="1" i="1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𝑾</m:t>
                      </m:r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44425EA1-8D69-2EA7-1C5E-A7BD08B70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5455" y="29595145"/>
                  <a:ext cx="24671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3951" t="-10667" b="-3066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C7B15E2-8348-922A-FB41-3E6615A6D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61530" y="29547280"/>
              <a:ext cx="24220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9534C59-BF50-1759-949D-A06CEDBAD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61530" y="30044951"/>
              <a:ext cx="24220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417610B-A2C0-94D1-D269-A5FD7E81CC62}"/>
                    </a:ext>
                  </a:extLst>
                </p:cNvPr>
                <p:cNvSpPr txBox="1"/>
                <p:nvPr/>
              </p:nvSpPr>
              <p:spPr>
                <a:xfrm>
                  <a:off x="14219601" y="29608142"/>
                  <a:ext cx="261891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/>
                    <a:t>channel width: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1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b="1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𝑾</m:t>
                          </m:r>
                        </m:e>
                        <m:sup>
                          <m:r>
                            <a:rPr lang="en-US" sz="2400" b="1" i="1" spc="-5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′</m:t>
                          </m:r>
                        </m:sup>
                      </m:sSup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417610B-A2C0-94D1-D269-A5FD7E81C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19601" y="29608142"/>
                  <a:ext cx="2618914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3488" t="-10526" b="-2894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1156DF6-8645-D5A5-F934-D2DA19620CE1}"/>
                </a:ext>
              </a:extLst>
            </p:cNvPr>
            <p:cNvCxnSpPr>
              <a:cxnSpLocks/>
            </p:cNvCxnSpPr>
            <p:nvPr/>
          </p:nvCxnSpPr>
          <p:spPr>
            <a:xfrm>
              <a:off x="16939110" y="29358525"/>
              <a:ext cx="0" cy="870862"/>
            </a:xfrm>
            <a:prstGeom prst="line">
              <a:avLst/>
            </a:prstGeom>
            <a:ln w="571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70AB5B7-2580-1F5C-F8CE-A08D4587826D}"/>
              </a:ext>
            </a:extLst>
          </p:cNvPr>
          <p:cNvGrpSpPr/>
          <p:nvPr/>
        </p:nvGrpSpPr>
        <p:grpSpPr>
          <a:xfrm>
            <a:off x="1151766" y="27433495"/>
            <a:ext cx="7153329" cy="4003246"/>
            <a:chOff x="1029846" y="27506299"/>
            <a:chExt cx="7153329" cy="4003246"/>
          </a:xfrm>
        </p:grpSpPr>
        <p:pic>
          <p:nvPicPr>
            <p:cNvPr id="1029" name="Picture 1028" descr="Diagram&#10;&#10;Description automatically generated">
              <a:extLst>
                <a:ext uri="{FF2B5EF4-FFF2-40B4-BE49-F238E27FC236}">
                  <a16:creationId xmlns:a16="http://schemas.microsoft.com/office/drawing/2014/main" id="{E2A1C33D-ECB2-36C6-CEAF-86334A12DF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29" r="5488"/>
            <a:stretch/>
          </p:blipFill>
          <p:spPr>
            <a:xfrm>
              <a:off x="1118885" y="27736177"/>
              <a:ext cx="7012233" cy="3773368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CF48EA9-CE6B-185F-D1A9-5E5FFA4AF70D}"/>
                </a:ext>
              </a:extLst>
            </p:cNvPr>
            <p:cNvSpPr txBox="1"/>
            <p:nvPr/>
          </p:nvSpPr>
          <p:spPr>
            <a:xfrm>
              <a:off x="1156985" y="27506299"/>
              <a:ext cx="12037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4400" b="1" dirty="0"/>
                <a:t>A)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41C8AF9-FC41-94E0-A8AD-3BE7BB7488F7}"/>
                    </a:ext>
                  </a:extLst>
                </p:cNvPr>
                <p:cNvSpPr txBox="1"/>
                <p:nvPr/>
              </p:nvSpPr>
              <p:spPr>
                <a:xfrm>
                  <a:off x="1074660" y="30599765"/>
                  <a:ext cx="280919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/>
                    <a:t>Vacuum pressure: </a:t>
                  </a:r>
                  <a14:m>
                    <m:oMath xmlns:m="http://schemas.openxmlformats.org/officeDocument/2006/math">
                      <m:r>
                        <a:rPr lang="en-CA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41C8AF9-FC41-94E0-A8AD-3BE7BB748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660" y="30599765"/>
                  <a:ext cx="2809195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3254" t="-10667" b="-3066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DE649FE-0550-D377-19CD-8A79D7FD0C02}"/>
                    </a:ext>
                  </a:extLst>
                </p:cNvPr>
                <p:cNvSpPr txBox="1"/>
                <p:nvPr/>
              </p:nvSpPr>
              <p:spPr>
                <a:xfrm>
                  <a:off x="4191492" y="28760511"/>
                  <a:ext cx="327128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/>
                    <a:t>Membrane thickness: </a:t>
                  </a:r>
                  <a14:m>
                    <m:oMath xmlns:m="http://schemas.openxmlformats.org/officeDocument/2006/math">
                      <m:r>
                        <a:rPr lang="en-CA" sz="24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DE649FE-0550-D377-19CD-8A79D7FD0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492" y="28760511"/>
                  <a:ext cx="3271282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985" t="-10526" b="-2894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4DCD4594-F03B-CDF2-A554-C369413A9EEB}"/>
                    </a:ext>
                  </a:extLst>
                </p:cNvPr>
                <p:cNvSpPr txBox="1"/>
                <p:nvPr/>
              </p:nvSpPr>
              <p:spPr>
                <a:xfrm>
                  <a:off x="1029846" y="28241174"/>
                  <a:ext cx="327128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/>
                    <a:t>Height: </a:t>
                  </a:r>
                  <a14:m>
                    <m:oMath xmlns:m="http://schemas.openxmlformats.org/officeDocument/2006/math">
                      <m:r>
                        <a:rPr lang="en-CA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4DCD4594-F03B-CDF2-A554-C369413A9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46" y="28241174"/>
                  <a:ext cx="3271282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2980" t="-10526" b="-2894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AE6F8D4-4A5E-41AC-DFDD-FA7FA05A9E29}"/>
                    </a:ext>
                  </a:extLst>
                </p:cNvPr>
                <p:cNvSpPr txBox="1"/>
                <p:nvPr/>
              </p:nvSpPr>
              <p:spPr>
                <a:xfrm>
                  <a:off x="5604603" y="30239781"/>
                  <a:ext cx="2578572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2400" b="1" dirty="0"/>
                    <a:t>Young’s module: </a:t>
                  </a:r>
                  <a14:m>
                    <m:oMath xmlns:m="http://schemas.openxmlformats.org/officeDocument/2006/math">
                      <m:r>
                        <a:rPr lang="en-CA" sz="2400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endParaRPr lang="en-CA" sz="2400" b="1" dirty="0"/>
                </a:p>
                <a:p>
                  <a:r>
                    <a:rPr lang="en-CA" sz="2400" b="1" dirty="0"/>
                    <a:t>Poisson’s ratio: </a:t>
                  </a:r>
                  <a14:m>
                    <m:oMath xmlns:m="http://schemas.openxmlformats.org/officeDocument/2006/math">
                      <m:r>
                        <a:rPr lang="en-US" sz="2400" b="1" i="1" spc="-5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𝒗</m:t>
                      </m:r>
                    </m:oMath>
                  </a14:m>
                  <a:endParaRPr lang="en-CA" sz="2400" b="1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AE6F8D4-4A5E-41AC-DFDD-FA7FA05A9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4603" y="30239781"/>
                  <a:ext cx="2578572" cy="830997"/>
                </a:xfrm>
                <a:prstGeom prst="rect">
                  <a:avLst/>
                </a:prstGeom>
                <a:blipFill>
                  <a:blip r:embed="rId30"/>
                  <a:stretch>
                    <a:fillRect l="-3546" t="-5882" b="-1617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24DBCBA-1B12-4ABD-36B4-00B649C73C06}"/>
              </a:ext>
            </a:extLst>
          </p:cNvPr>
          <p:cNvGrpSpPr/>
          <p:nvPr/>
        </p:nvGrpSpPr>
        <p:grpSpPr>
          <a:xfrm>
            <a:off x="20927276" y="22041634"/>
            <a:ext cx="12615253" cy="5541830"/>
            <a:chOff x="21185797" y="21022039"/>
            <a:chExt cx="12615253" cy="5541830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526F9571-8C7F-A280-C16D-5C7E626240BD}"/>
                </a:ext>
              </a:extLst>
            </p:cNvPr>
            <p:cNvSpPr txBox="1"/>
            <p:nvPr/>
          </p:nvSpPr>
          <p:spPr>
            <a:xfrm>
              <a:off x="30034521" y="21743647"/>
              <a:ext cx="3766529" cy="310854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2800" i="1" dirty="0"/>
                <a:t>Figure 9. A) Microbubble growth rate in the microchannel decreased by increasing the upstream pressure. B) ImageJ was used for bubble growth analysis  </a:t>
              </a:r>
              <a:endParaRPr lang="en-US" sz="2800" i="1" dirty="0">
                <a:cs typeface="Calibri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AB2D1B73-F508-5C66-FAF7-C04BE30B7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09145" y="23231333"/>
              <a:ext cx="4053326" cy="1908236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116C87E-5A26-E9F5-588E-C658610BDD35}"/>
                </a:ext>
              </a:extLst>
            </p:cNvPr>
            <p:cNvSpPr txBox="1"/>
            <p:nvPr/>
          </p:nvSpPr>
          <p:spPr>
            <a:xfrm>
              <a:off x="21185797" y="21148608"/>
              <a:ext cx="934072" cy="784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4400" b="1" dirty="0"/>
                <a:t>A)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205B485-4E84-A5C9-E367-4F18122EE1B5}"/>
                </a:ext>
              </a:extLst>
            </p:cNvPr>
            <p:cNvSpPr txBox="1"/>
            <p:nvPr/>
          </p:nvSpPr>
          <p:spPr>
            <a:xfrm>
              <a:off x="22779990" y="23134753"/>
              <a:ext cx="934072" cy="784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4400" b="1" dirty="0">
                  <a:solidFill>
                    <a:schemeClr val="bg1"/>
                  </a:solidFill>
                </a:rPr>
                <a:t>B)</a:t>
              </a:r>
            </a:p>
          </p:txBody>
        </p:sp>
        <p:graphicFrame>
          <p:nvGraphicFramePr>
            <p:cNvPr id="178" name="Chart 177">
              <a:extLst>
                <a:ext uri="{FF2B5EF4-FFF2-40B4-BE49-F238E27FC236}">
                  <a16:creationId xmlns:a16="http://schemas.microsoft.com/office/drawing/2014/main" id="{D95E96DB-154D-944C-8606-C9E0C3BCBA2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31818007"/>
                </p:ext>
              </p:extLst>
            </p:nvPr>
          </p:nvGraphicFramePr>
          <p:xfrm>
            <a:off x="21387343" y="21022039"/>
            <a:ext cx="8866452" cy="55418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2"/>
            </a:graphicData>
          </a:graphic>
        </p:graphicFrame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F11A34-D912-AE2A-A6A9-FB9F6AD1C44A}"/>
              </a:ext>
            </a:extLst>
          </p:cNvPr>
          <p:cNvCxnSpPr>
            <a:stCxn id="38" idx="0"/>
            <a:endCxn id="38" idx="2"/>
          </p:cNvCxnSpPr>
          <p:nvPr/>
        </p:nvCxnSpPr>
        <p:spPr>
          <a:xfrm>
            <a:off x="4726146" y="10335864"/>
            <a:ext cx="0" cy="24530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F40B9D5-5C71-B1F0-EFA9-EA4EDEC013D3}"/>
              </a:ext>
            </a:extLst>
          </p:cNvPr>
          <p:cNvSpPr txBox="1"/>
          <p:nvPr/>
        </p:nvSpPr>
        <p:spPr>
          <a:xfrm>
            <a:off x="649774" y="23040835"/>
            <a:ext cx="1945053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4000" indent="-3600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prstClr val="black"/>
                </a:solidFill>
              </a:rPr>
              <a:t>Microbubbles were trapped in pre-designed cavities (Fig. 3C) within the microchannel and their growth rates were measured at different upstream pressures (hydrostatic pressures within the microchannel). </a:t>
            </a:r>
          </a:p>
          <a:p>
            <a:pPr marL="504000" indent="-3600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3600" dirty="0"/>
              <a:t>PDMS membrane deflection in Fig 3.B, was estimated using Eq. 1 and verified experimentally to determine how much deflection was required for embryo passage. When a</a:t>
            </a:r>
            <a:r>
              <a:rPr lang="en-CA" sz="3600" dirty="0">
                <a:cs typeface="+mn-lt"/>
              </a:rPr>
              <a:t> negative pressure (-60 kPa) was applied, a single embryo was released and pushed towards the </a:t>
            </a:r>
            <a:r>
              <a:rPr lang="en-CA" sz="3600" dirty="0" err="1">
                <a:cs typeface="+mn-lt"/>
              </a:rPr>
              <a:t>acoustofluidic</a:t>
            </a:r>
            <a:r>
              <a:rPr lang="en-CA" sz="3600" dirty="0">
                <a:cs typeface="+mn-lt"/>
              </a:rPr>
              <a:t> module.</a:t>
            </a:r>
            <a:endParaRPr lang="en-GB" sz="3600" dirty="0">
              <a:solidFill>
                <a:prstClr val="black"/>
              </a:solidFill>
            </a:endParaRPr>
          </a:p>
          <a:p>
            <a:pPr marL="504000" indent="-3600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3600" dirty="0">
                <a:cs typeface="+mn-lt"/>
              </a:rPr>
              <a:t>The piezoelectric transducer shown in Fig 3.A, was actuated at 0 to 150 kHz frequencies and 0 to 20 </a:t>
            </a:r>
            <a:r>
              <a:rPr lang="en-CA" sz="3600" dirty="0" err="1">
                <a:cs typeface="+mn-lt"/>
              </a:rPr>
              <a:t>V</a:t>
            </a:r>
            <a:r>
              <a:rPr lang="en-CA" sz="3600" baseline="-25000" dirty="0" err="1">
                <a:cs typeface="+mn-lt"/>
              </a:rPr>
              <a:t>pp</a:t>
            </a:r>
            <a:r>
              <a:rPr lang="en-CA" sz="3600" dirty="0">
                <a:cs typeface="+mn-lt"/>
              </a:rPr>
              <a:t> amplitude to achieve out-of-plane vortices.</a:t>
            </a:r>
            <a:endParaRPr lang="en-US" sz="3600" dirty="0">
              <a:cs typeface="+mn-lt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83EDCE-98C7-35A0-D7EE-FC507E539673}"/>
              </a:ext>
            </a:extLst>
          </p:cNvPr>
          <p:cNvCxnSpPr>
            <a:cxnSpLocks/>
          </p:cNvCxnSpPr>
          <p:nvPr/>
        </p:nvCxnSpPr>
        <p:spPr>
          <a:xfrm flipH="1">
            <a:off x="16741810" y="29582313"/>
            <a:ext cx="242200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327E837-FF26-2F54-E066-6134A7E700CE}"/>
              </a:ext>
            </a:extLst>
          </p:cNvPr>
          <p:cNvCxnSpPr>
            <a:cxnSpLocks/>
          </p:cNvCxnSpPr>
          <p:nvPr/>
        </p:nvCxnSpPr>
        <p:spPr>
          <a:xfrm flipH="1">
            <a:off x="16741510" y="30422695"/>
            <a:ext cx="242200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79C15A-7D5E-8C8F-A4AA-55DD1831DE86}"/>
              </a:ext>
            </a:extLst>
          </p:cNvPr>
          <p:cNvGrpSpPr/>
          <p:nvPr/>
        </p:nvGrpSpPr>
        <p:grpSpPr>
          <a:xfrm>
            <a:off x="34273355" y="11093038"/>
            <a:ext cx="8036191" cy="2105805"/>
            <a:chOff x="34273355" y="12036979"/>
            <a:chExt cx="8036191" cy="210580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0CD6F36-0EFA-A13C-202D-5F2C45010423}"/>
                </a:ext>
              </a:extLst>
            </p:cNvPr>
            <p:cNvGrpSpPr/>
            <p:nvPr/>
          </p:nvGrpSpPr>
          <p:grpSpPr>
            <a:xfrm>
              <a:off x="34273355" y="12036979"/>
              <a:ext cx="8036191" cy="2105805"/>
              <a:chOff x="34087860" y="10639847"/>
              <a:chExt cx="8036191" cy="2105805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B63C7949-23E8-F2D6-FC2C-232E1D4DB9C1}"/>
                  </a:ext>
                </a:extLst>
              </p:cNvPr>
              <p:cNvGrpSpPr/>
              <p:nvPr/>
            </p:nvGrpSpPr>
            <p:grpSpPr>
              <a:xfrm>
                <a:off x="34087860" y="10639847"/>
                <a:ext cx="8036191" cy="2105805"/>
                <a:chOff x="34087860" y="10639847"/>
                <a:chExt cx="8036191" cy="2105805"/>
              </a:xfrm>
            </p:grpSpPr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B152E0E5-AA5D-0DB2-1479-0F38A73E5AF3}"/>
                    </a:ext>
                  </a:extLst>
                </p:cNvPr>
                <p:cNvGrpSpPr/>
                <p:nvPr/>
              </p:nvGrpSpPr>
              <p:grpSpPr>
                <a:xfrm>
                  <a:off x="39780400" y="10670845"/>
                  <a:ext cx="2343651" cy="2074807"/>
                  <a:chOff x="40779639" y="12366199"/>
                  <a:chExt cx="2781613" cy="2466630"/>
                </a:xfrm>
              </p:grpSpPr>
              <p:pic>
                <p:nvPicPr>
                  <p:cNvPr id="19" name="Image 19">
                    <a:extLst>
                      <a:ext uri="{FF2B5EF4-FFF2-40B4-BE49-F238E27FC236}">
                        <a16:creationId xmlns:a16="http://schemas.microsoft.com/office/drawing/2014/main" id="{560A9543-40E4-0B7F-6148-252453740A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40848198" y="12366199"/>
                    <a:ext cx="2713054" cy="2466630"/>
                  </a:xfrm>
                  <a:prstGeom prst="rect">
                    <a:avLst/>
                  </a:prstGeom>
                </p:spPr>
              </p:pic>
              <p:sp>
                <p:nvSpPr>
                  <p:cNvPr id="24" name="ZoneTexte 23">
                    <a:extLst>
                      <a:ext uri="{FF2B5EF4-FFF2-40B4-BE49-F238E27FC236}">
                        <a16:creationId xmlns:a16="http://schemas.microsoft.com/office/drawing/2014/main" id="{F441E2C1-D824-77CF-2321-7AAB924337C1}"/>
                      </a:ext>
                    </a:extLst>
                  </p:cNvPr>
                  <p:cNvSpPr txBox="1"/>
                  <p:nvPr/>
                </p:nvSpPr>
                <p:spPr>
                  <a:xfrm>
                    <a:off x="40779639" y="12391397"/>
                    <a:ext cx="737813" cy="584775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fr-CA" sz="3200" b="1" dirty="0">
                        <a:solidFill>
                          <a:schemeClr val="bg1"/>
                        </a:solidFill>
                        <a:cs typeface="Calibri"/>
                      </a:rPr>
                      <a:t>C)</a:t>
                    </a: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7D8A5C85-77FE-281A-A36D-8BBD1F1CCD5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087860" y="10639847"/>
                  <a:ext cx="5683131" cy="2105805"/>
                  <a:chOff x="34016579" y="12346127"/>
                  <a:chExt cx="6702021" cy="2483340"/>
                </a:xfrm>
              </p:grpSpPr>
              <p:pic>
                <p:nvPicPr>
                  <p:cNvPr id="6" name="Image 10">
                    <a:extLst>
                      <a:ext uri="{FF2B5EF4-FFF2-40B4-BE49-F238E27FC236}">
                        <a16:creationId xmlns:a16="http://schemas.microsoft.com/office/drawing/2014/main" id="{070C6E97-8335-264E-8BD1-E10C631341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4"/>
                  <a:srcRect t="45126"/>
                  <a:stretch/>
                </p:blipFill>
                <p:spPr>
                  <a:xfrm>
                    <a:off x="37992063" y="12378273"/>
                    <a:ext cx="2726537" cy="2426837"/>
                  </a:xfrm>
                  <a:prstGeom prst="rect">
                    <a:avLst/>
                  </a:prstGeom>
                </p:spPr>
              </p:pic>
              <p:pic>
                <p:nvPicPr>
                  <p:cNvPr id="11" name="Image 11">
                    <a:extLst>
                      <a:ext uri="{FF2B5EF4-FFF2-40B4-BE49-F238E27FC236}">
                        <a16:creationId xmlns:a16="http://schemas.microsoft.com/office/drawing/2014/main" id="{75EEE032-5CC6-7035-A968-C5D5FC80EA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4076129" y="12401625"/>
                    <a:ext cx="3834746" cy="2427842"/>
                  </a:xfrm>
                  <a:prstGeom prst="rect">
                    <a:avLst/>
                  </a:prstGeom>
                </p:spPr>
              </p:pic>
              <p:sp>
                <p:nvSpPr>
                  <p:cNvPr id="20" name="ZoneTexte 19">
                    <a:extLst>
                      <a:ext uri="{FF2B5EF4-FFF2-40B4-BE49-F238E27FC236}">
                        <a16:creationId xmlns:a16="http://schemas.microsoft.com/office/drawing/2014/main" id="{63F6369F-F155-4C86-D8FB-B7C722926FEA}"/>
                      </a:ext>
                    </a:extLst>
                  </p:cNvPr>
                  <p:cNvSpPr txBox="1"/>
                  <p:nvPr/>
                </p:nvSpPr>
                <p:spPr>
                  <a:xfrm>
                    <a:off x="34016579" y="12346127"/>
                    <a:ext cx="737813" cy="584775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fr-CA" sz="3200" b="1" dirty="0">
                        <a:solidFill>
                          <a:schemeClr val="bg1"/>
                        </a:solidFill>
                        <a:cs typeface="Calibri"/>
                      </a:rPr>
                      <a:t>A)</a:t>
                    </a:r>
                  </a:p>
                </p:txBody>
              </p:sp>
              <p:sp>
                <p:nvSpPr>
                  <p:cNvPr id="107" name="ZoneTexte 19">
                    <a:extLst>
                      <a:ext uri="{FF2B5EF4-FFF2-40B4-BE49-F238E27FC236}">
                        <a16:creationId xmlns:a16="http://schemas.microsoft.com/office/drawing/2014/main" id="{4B6FD50C-2698-BDF1-C9B8-122C761E6CC0}"/>
                      </a:ext>
                    </a:extLst>
                  </p:cNvPr>
                  <p:cNvSpPr txBox="1"/>
                  <p:nvPr/>
                </p:nvSpPr>
                <p:spPr>
                  <a:xfrm>
                    <a:off x="38003159" y="12401625"/>
                    <a:ext cx="737813" cy="584775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fr-CA" sz="3200" b="1" dirty="0">
                        <a:solidFill>
                          <a:schemeClr val="bg1"/>
                        </a:solidFill>
                        <a:cs typeface="Calibri"/>
                      </a:rPr>
                      <a:t>B)</a:t>
                    </a: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84499A1-45DC-0444-9AFA-6BC32628F784}"/>
                  </a:ext>
                </a:extLst>
              </p:cNvPr>
              <p:cNvGrpSpPr/>
              <p:nvPr/>
            </p:nvGrpSpPr>
            <p:grpSpPr>
              <a:xfrm>
                <a:off x="41485876" y="12416741"/>
                <a:ext cx="638175" cy="261610"/>
                <a:chOff x="41485876" y="12416741"/>
                <a:chExt cx="638175" cy="261610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4A6CCC79-8B2B-EF94-95CC-A9F1A31D0B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05740" y="12443471"/>
                  <a:ext cx="386175" cy="0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D33BA3F-CF49-0EBE-3446-606884BA9623}"/>
                    </a:ext>
                  </a:extLst>
                </p:cNvPr>
                <p:cNvSpPr txBox="1"/>
                <p:nvPr/>
              </p:nvSpPr>
              <p:spPr>
                <a:xfrm>
                  <a:off x="41485876" y="12416741"/>
                  <a:ext cx="63817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100" b="1" dirty="0">
                      <a:solidFill>
                        <a:schemeClr val="bg1"/>
                      </a:solidFill>
                    </a:rPr>
                    <a:t>100 µm</a:t>
                  </a:r>
                </a:p>
              </p:txBody>
            </p:sp>
          </p:grpSp>
        </p:grp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D6876E31-4C7E-3E5C-095C-2FFEC02161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0696457" y="12670570"/>
              <a:ext cx="419931" cy="311356"/>
            </a:xfrm>
            <a:prstGeom prst="curvedConnector3">
              <a:avLst>
                <a:gd name="adj1" fmla="val -35447"/>
              </a:avLst>
            </a:prstGeom>
            <a:ln w="38100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BDC13F8B-4CEC-0813-5571-A67C2748FC5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220963" y="12670571"/>
              <a:ext cx="419931" cy="311356"/>
            </a:xfrm>
            <a:prstGeom prst="curvedConnector3">
              <a:avLst>
                <a:gd name="adj1" fmla="val -35447"/>
              </a:avLst>
            </a:prstGeom>
            <a:ln w="38100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F6986428-BF8F-93BE-F602-4F490576C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83526"/>
              </p:ext>
            </p:extLst>
          </p:nvPr>
        </p:nvGraphicFramePr>
        <p:xfrm>
          <a:off x="42206606" y="10896611"/>
          <a:ext cx="6914983" cy="4953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9" r:id="rId36" imgW="3794278" imgH="2718430" progId="Prism9.Document">
                  <p:embed/>
                </p:oleObj>
              </mc:Choice>
              <mc:Fallback>
                <p:oleObj name="Prism 9" r:id="rId36" imgW="3794278" imgH="2718430" progId="Prism9.Document">
                  <p:embed/>
                  <p:pic>
                    <p:nvPicPr>
                      <p:cNvPr id="72" name="Object 71">
                        <a:extLst>
                          <a:ext uri="{FF2B5EF4-FFF2-40B4-BE49-F238E27FC236}">
                            <a16:creationId xmlns:a16="http://schemas.microsoft.com/office/drawing/2014/main" id="{F6986428-BF8F-93BE-F602-4F490576C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2206606" y="10896611"/>
                        <a:ext cx="6914983" cy="4953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7551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" grpId="0"/>
      <p:bldGraphic spid="1072" grpId="0">
        <p:bldAsOne/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SENAME" val="MICROFLUIDIC DEVICE TO SCREEN THE FIN AND HEART ACTIVITIES OF MULTIPLE ZEBRAFISH LARVAE"/>
  <p:tag name="SAVETOFOLDER" val="C:\PhD\Papers\MicroTAS (2022)\1\"/>
  <p:tag name="IMAGEWIDTH" val="3370"/>
  <p:tag name="IMAGEHEIGHT" val="2384"/>
  <p:tag name="EXPORTRANGE" val="EntirePresentation"/>
  <p:tag name="SIZEBY" val="DPI"/>
  <p:tag name="OUTPUTDPI" val="72"/>
  <p:tag name="EXPORTAS" val="JPG"/>
  <p:tag name="NUMBERFORMAT" val="0000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10339</TotalTime>
  <Words>1057</Words>
  <Application>Microsoft Office PowerPoint</Application>
  <PresentationFormat>Custom</PresentationFormat>
  <Paragraphs>100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1_Office Theme</vt:lpstr>
      <vt:lpstr>Prism 9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Joaquin Ramirez</cp:lastModifiedBy>
  <cp:revision>277</cp:revision>
  <dcterms:created xsi:type="dcterms:W3CDTF">2020-08-25T00:57:44Z</dcterms:created>
  <dcterms:modified xsi:type="dcterms:W3CDTF">2026-10-22T14:14:05Z</dcterms:modified>
</cp:coreProperties>
</file>